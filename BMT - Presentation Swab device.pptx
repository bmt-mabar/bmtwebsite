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12"/>
  </p:notesMasterIdLst>
  <p:sldIdLst>
    <p:sldId id="256" r:id="rId2"/>
    <p:sldId id="257" r:id="rId3"/>
    <p:sldId id="277" r:id="rId4"/>
    <p:sldId id="259" r:id="rId5"/>
    <p:sldId id="262" r:id="rId6"/>
    <p:sldId id="260" r:id="rId7"/>
    <p:sldId id="270" r:id="rId8"/>
    <p:sldId id="271" r:id="rId9"/>
    <p:sldId id="279" r:id="rId10"/>
    <p:sldId id="276" r:id="rId11"/>
  </p:sldIdLst>
  <p:sldSz cx="9144000" cy="6858000" type="screen4x3"/>
  <p:notesSz cx="7315200" cy="96012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6Ua+qTRHLAaj3zoxlPUzeB+Ui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CFA6BD-B4FB-4C73-BA47-5280D2BF535E}" v="1" dt="2024-10-15T08:10:07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53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ey Tamir" userId="fccdbe3e-ab74-4431-afbe-dd5f4b722b71" providerId="ADAL" clId="{AD7CABAD-BA16-4F1B-8B03-0FEFC54014AD}"/>
    <pc:docChg chg="undo custSel addSld modSld">
      <pc:chgData name="Roey Tamir" userId="fccdbe3e-ab74-4431-afbe-dd5f4b722b71" providerId="ADAL" clId="{AD7CABAD-BA16-4F1B-8B03-0FEFC54014AD}" dt="2024-03-13T06:54:08.651" v="374"/>
      <pc:docMkLst>
        <pc:docMk/>
      </pc:docMkLst>
      <pc:sldChg chg="modSp mod">
        <pc:chgData name="Roey Tamir" userId="fccdbe3e-ab74-4431-afbe-dd5f4b722b71" providerId="ADAL" clId="{AD7CABAD-BA16-4F1B-8B03-0FEFC54014AD}" dt="2024-03-13T06:50:50.691" v="373" actId="20577"/>
        <pc:sldMkLst>
          <pc:docMk/>
          <pc:sldMk cId="0" sldId="257"/>
        </pc:sldMkLst>
        <pc:spChg chg="mod">
          <ac:chgData name="Roey Tamir" userId="fccdbe3e-ab74-4431-afbe-dd5f4b722b71" providerId="ADAL" clId="{AD7CABAD-BA16-4F1B-8B03-0FEFC54014AD}" dt="2024-03-13T06:50:50.691" v="373" actId="20577"/>
          <ac:spMkLst>
            <pc:docMk/>
            <pc:sldMk cId="0" sldId="257"/>
            <ac:spMk id="128" creationId="{00000000-0000-0000-0000-000000000000}"/>
          </ac:spMkLst>
        </pc:spChg>
      </pc:sldChg>
      <pc:sldChg chg="modSp mod">
        <pc:chgData name="Roey Tamir" userId="fccdbe3e-ab74-4431-afbe-dd5f4b722b71" providerId="ADAL" clId="{AD7CABAD-BA16-4F1B-8B03-0FEFC54014AD}" dt="2024-03-11T12:01:45.798" v="360" actId="20577"/>
        <pc:sldMkLst>
          <pc:docMk/>
          <pc:sldMk cId="0" sldId="259"/>
        </pc:sldMkLst>
        <pc:spChg chg="mod">
          <ac:chgData name="Roey Tamir" userId="fccdbe3e-ab74-4431-afbe-dd5f4b722b71" providerId="ADAL" clId="{AD7CABAD-BA16-4F1B-8B03-0FEFC54014AD}" dt="2024-03-11T12:01:45.798" v="360" actId="20577"/>
          <ac:spMkLst>
            <pc:docMk/>
            <pc:sldMk cId="0" sldId="259"/>
            <ac:spMk id="141" creationId="{00000000-0000-0000-0000-000000000000}"/>
          </ac:spMkLst>
        </pc:spChg>
        <pc:picChg chg="mod">
          <ac:chgData name="Roey Tamir" userId="fccdbe3e-ab74-4431-afbe-dd5f4b722b71" providerId="ADAL" clId="{AD7CABAD-BA16-4F1B-8B03-0FEFC54014AD}" dt="2024-03-11T11:25:58.878" v="166" actId="1076"/>
          <ac:picMkLst>
            <pc:docMk/>
            <pc:sldMk cId="0" sldId="259"/>
            <ac:picMk id="144" creationId="{00000000-0000-0000-0000-000000000000}"/>
          </ac:picMkLst>
        </pc:picChg>
      </pc:sldChg>
      <pc:sldChg chg="modSp mod">
        <pc:chgData name="Roey Tamir" userId="fccdbe3e-ab74-4431-afbe-dd5f4b722b71" providerId="ADAL" clId="{AD7CABAD-BA16-4F1B-8B03-0FEFC54014AD}" dt="2024-03-11T12:00:02.323" v="320" actId="20577"/>
        <pc:sldMkLst>
          <pc:docMk/>
          <pc:sldMk cId="0" sldId="260"/>
        </pc:sldMkLst>
        <pc:spChg chg="mod">
          <ac:chgData name="Roey Tamir" userId="fccdbe3e-ab74-4431-afbe-dd5f4b722b71" providerId="ADAL" clId="{AD7CABAD-BA16-4F1B-8B03-0FEFC54014AD}" dt="2024-03-11T12:00:02.323" v="320" actId="20577"/>
          <ac:spMkLst>
            <pc:docMk/>
            <pc:sldMk cId="0" sldId="260"/>
            <ac:spMk id="149" creationId="{00000000-0000-0000-0000-000000000000}"/>
          </ac:spMkLst>
        </pc:spChg>
      </pc:sldChg>
      <pc:sldChg chg="modSp mod">
        <pc:chgData name="Roey Tamir" userId="fccdbe3e-ab74-4431-afbe-dd5f4b722b71" providerId="ADAL" clId="{AD7CABAD-BA16-4F1B-8B03-0FEFC54014AD}" dt="2024-03-11T11:55:23.661" v="252" actId="108"/>
        <pc:sldMkLst>
          <pc:docMk/>
          <pc:sldMk cId="0" sldId="262"/>
        </pc:sldMkLst>
        <pc:spChg chg="mod">
          <ac:chgData name="Roey Tamir" userId="fccdbe3e-ab74-4431-afbe-dd5f4b722b71" providerId="ADAL" clId="{AD7CABAD-BA16-4F1B-8B03-0FEFC54014AD}" dt="2024-03-11T11:55:23.661" v="252" actId="108"/>
          <ac:spMkLst>
            <pc:docMk/>
            <pc:sldMk cId="0" sldId="262"/>
            <ac:spMk id="165" creationId="{00000000-0000-0000-0000-000000000000}"/>
          </ac:spMkLst>
        </pc:spChg>
      </pc:sldChg>
      <pc:sldChg chg="modSp mod">
        <pc:chgData name="Roey Tamir" userId="fccdbe3e-ab74-4431-afbe-dd5f4b722b71" providerId="ADAL" clId="{AD7CABAD-BA16-4F1B-8B03-0FEFC54014AD}" dt="2024-03-11T12:00:48.959" v="327" actId="108"/>
        <pc:sldMkLst>
          <pc:docMk/>
          <pc:sldMk cId="0" sldId="271"/>
        </pc:sldMkLst>
        <pc:spChg chg="mod">
          <ac:chgData name="Roey Tamir" userId="fccdbe3e-ab74-4431-afbe-dd5f4b722b71" providerId="ADAL" clId="{AD7CABAD-BA16-4F1B-8B03-0FEFC54014AD}" dt="2024-03-11T12:00:48.959" v="327" actId="108"/>
          <ac:spMkLst>
            <pc:docMk/>
            <pc:sldMk cId="0" sldId="271"/>
            <ac:spMk id="243" creationId="{00000000-0000-0000-0000-000000000000}"/>
          </ac:spMkLst>
        </pc:spChg>
      </pc:sldChg>
      <pc:sldChg chg="add">
        <pc:chgData name="Roey Tamir" userId="fccdbe3e-ab74-4431-afbe-dd5f4b722b71" providerId="ADAL" clId="{AD7CABAD-BA16-4F1B-8B03-0FEFC54014AD}" dt="2024-03-13T06:54:08.651" v="374"/>
        <pc:sldMkLst>
          <pc:docMk/>
          <pc:sldMk cId="0" sldId="277"/>
        </pc:sldMkLst>
      </pc:sldChg>
    </pc:docChg>
  </pc:docChgLst>
  <pc:docChgLst>
    <pc:chgData name="Roey Tamir" userId="fccdbe3e-ab74-4431-afbe-dd5f4b722b71" providerId="ADAL" clId="{11CFA6BD-B4FB-4C73-BA47-5280D2BF535E}"/>
    <pc:docChg chg="custSel addSld delSld modSld">
      <pc:chgData name="Roey Tamir" userId="fccdbe3e-ab74-4431-afbe-dd5f4b722b71" providerId="ADAL" clId="{11CFA6BD-B4FB-4C73-BA47-5280D2BF535E}" dt="2024-10-15T08:16:54.371" v="6" actId="478"/>
      <pc:docMkLst>
        <pc:docMk/>
      </pc:docMkLst>
      <pc:sldChg chg="modSp mod">
        <pc:chgData name="Roey Tamir" userId="fccdbe3e-ab74-4431-afbe-dd5f4b722b71" providerId="ADAL" clId="{11CFA6BD-B4FB-4C73-BA47-5280D2BF535E}" dt="2024-10-15T08:14:27.578" v="4" actId="20577"/>
        <pc:sldMkLst>
          <pc:docMk/>
          <pc:sldMk cId="0" sldId="271"/>
        </pc:sldMkLst>
        <pc:spChg chg="mod">
          <ac:chgData name="Roey Tamir" userId="fccdbe3e-ab74-4431-afbe-dd5f4b722b71" providerId="ADAL" clId="{11CFA6BD-B4FB-4C73-BA47-5280D2BF535E}" dt="2024-10-15T08:14:27.578" v="4" actId="20577"/>
          <ac:spMkLst>
            <pc:docMk/>
            <pc:sldMk cId="0" sldId="271"/>
            <ac:spMk id="243" creationId="{00000000-0000-0000-0000-000000000000}"/>
          </ac:spMkLst>
        </pc:spChg>
      </pc:sldChg>
      <pc:sldChg chg="new del">
        <pc:chgData name="Roey Tamir" userId="fccdbe3e-ab74-4431-afbe-dd5f4b722b71" providerId="ADAL" clId="{11CFA6BD-B4FB-4C73-BA47-5280D2BF535E}" dt="2024-10-15T08:10:10.159" v="2" actId="47"/>
        <pc:sldMkLst>
          <pc:docMk/>
          <pc:sldMk cId="2561610857" sldId="278"/>
        </pc:sldMkLst>
      </pc:sldChg>
      <pc:sldChg chg="delSp modSp add mod">
        <pc:chgData name="Roey Tamir" userId="fccdbe3e-ab74-4431-afbe-dd5f4b722b71" providerId="ADAL" clId="{11CFA6BD-B4FB-4C73-BA47-5280D2BF535E}" dt="2024-10-15T08:16:54.371" v="6" actId="478"/>
        <pc:sldMkLst>
          <pc:docMk/>
          <pc:sldMk cId="2050680912" sldId="279"/>
        </pc:sldMkLst>
        <pc:spChg chg="del mod">
          <ac:chgData name="Roey Tamir" userId="fccdbe3e-ab74-4431-afbe-dd5f4b722b71" providerId="ADAL" clId="{11CFA6BD-B4FB-4C73-BA47-5280D2BF535E}" dt="2024-10-15T08:16:51.128" v="5" actId="478"/>
          <ac:spMkLst>
            <pc:docMk/>
            <pc:sldMk cId="2050680912" sldId="279"/>
            <ac:spMk id="243" creationId="{00000000-0000-0000-0000-000000000000}"/>
          </ac:spMkLst>
        </pc:spChg>
        <pc:spChg chg="del">
          <ac:chgData name="Roey Tamir" userId="fccdbe3e-ab74-4431-afbe-dd5f4b722b71" providerId="ADAL" clId="{11CFA6BD-B4FB-4C73-BA47-5280D2BF535E}" dt="2024-10-15T08:16:54.371" v="6" actId="478"/>
          <ac:spMkLst>
            <pc:docMk/>
            <pc:sldMk cId="2050680912" sldId="279"/>
            <ac:spMk id="24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9446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7B57-8CC8-9D72-40E6-31ADDF3B9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77069-94DF-4BB4-B67F-00C2C90E4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C6907-1A34-E6DB-767E-B48E0041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57FAB-2DE1-FE79-E967-1A6CBE79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04C25-84C4-ADC9-65F2-AD19DA7F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698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5920E-3A13-B3A6-8F48-D197BC33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5E1B7-118F-BCBD-04A3-881872835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529A-0489-8392-7D60-42BA1F252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44D72-7EDD-F3E7-07F9-EB510A20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33427-8F68-9082-8E6B-C86A9B7F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5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78E4-3683-2F1E-1064-13E59E559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559A5-E5E0-8BB9-1413-0A7F57F0A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80740-5E63-1F30-9C83-6A70153C3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9E024-54C9-1A03-DE16-3139D26D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23A84-977D-B1C3-826E-9DB811231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503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E59A-1949-14F8-6743-7083B1036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4D4D0-A2EF-A3A9-2FF8-2D2761DE2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B27F1-5F25-4D54-5921-946D434F6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36627-921B-0D6C-AA96-C84135B1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18D1B-32ED-FABB-66A3-F192DEEB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A4815-673E-A178-6826-F809C4F94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385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63F42-83DF-D98D-D18F-F2F21DD4C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E179B-262E-151C-CBB0-0DB4D0BCC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3318D-A7D1-F5F7-4FDA-E7DCE22B5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46F5D-71F3-3787-D00C-FEAC6B469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F2FD21-A184-771F-93EC-9ECCDDD55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D044AB-3BAA-FF4F-409C-E6A786EA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5109F-DB23-0976-1D03-8E3B48D3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A699A4-BF53-F036-6DE6-591B549A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678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B2EA-EF3C-D962-519E-EBEEE47B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C246C-22BB-01D7-593F-3338C2E2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78BE90-F42B-28A8-0229-7CC6E1B26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DABF0-BA70-7AAF-C1D1-AA27237D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567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CF4BA-1C79-BAE1-945E-2967F33D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BA2651-CFF8-CF29-1540-FF8763E31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07604-F64C-2003-E509-16F34BF5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5039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C8A22-2543-4667-42BD-802712F01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D228B-6EE0-1591-CB20-91D5FEA93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5982A-3B20-C45D-3F8E-F20734051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D8F42-7701-FF5D-59E3-BBF3D1F4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F5BB2-D200-6DF9-0294-652B1205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06AF6-809A-85A8-371C-12CC1D0A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481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7E3D-9C11-8CB6-EE39-F02CE040D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DD156-88C7-1A55-FD4D-A36A35578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34058-51E5-2B49-3ED4-B2CD13A23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92150-D143-2E37-E584-4ABEB6228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853D7-CA94-58FC-EAD6-99B097500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F8C37-35A3-5ABA-57B2-BDB8AD742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68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9026-436C-3C3A-1095-95ED0F75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E56B0-A175-836E-CB8C-C091D6941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D90EA-B4C9-8C48-50E6-2EDB53CC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22B8E-BE2C-F532-6BF5-DE08689E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9DC08-634B-4888-C278-8FC31F8A0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535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64FDF-8265-53EA-1D3B-BF0FFE784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EC2F4-D3EB-2B96-1DB5-55682CB8D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69FA0-EF42-EC50-6861-BC24EC24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9FEE4-6462-3D99-8996-6BD74D9BC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59ED5-DE9B-E030-2414-9D9BE169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1857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6C194-2835-6E69-6D0F-275A697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C320A-A9A5-E88D-9A3B-1330CE811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BED4A-C37A-14EF-48EC-30D53FD66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20196-DE6E-594C-CD8F-4718ADCED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6CA3F-7747-3769-B9E4-F02889990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8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>
            <a:spLocks noGrp="1"/>
          </p:cNvSpPr>
          <p:nvPr>
            <p:ph type="ctrTitle"/>
          </p:nvPr>
        </p:nvSpPr>
        <p:spPr>
          <a:xfrm>
            <a:off x="1157288" y="3141663"/>
            <a:ext cx="6629400" cy="3716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1157288" y="1268760"/>
            <a:ext cx="6223024" cy="197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Intelligent, Convenient</a:t>
            </a:r>
            <a:endParaRPr/>
          </a:p>
          <a:p>
            <a:pPr marL="0" marR="0" lvl="0" indent="0" algn="ctr" rtl="0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Rapid Diagnostic Testing</a:t>
            </a:r>
            <a:endParaRPr/>
          </a:p>
        </p:txBody>
      </p:sp>
      <p:pic>
        <p:nvPicPr>
          <p:cNvPr id="119" name="Google Shape;11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4960867"/>
            <a:ext cx="7626379" cy="1223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1920" y="3789040"/>
            <a:ext cx="2880320" cy="6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/>
          <p:cNvSpPr txBox="1"/>
          <p:nvPr/>
        </p:nvSpPr>
        <p:spPr>
          <a:xfrm>
            <a:off x="6732240" y="3866599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 baseline="30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1835696" y="3952576"/>
            <a:ext cx="588614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Introducing</a:t>
            </a:r>
            <a:r>
              <a:rPr lang="en-US" sz="2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 txBox="1">
            <a:spLocks noGrp="1"/>
          </p:cNvSpPr>
          <p:nvPr>
            <p:ph type="body" idx="4294967295"/>
          </p:nvPr>
        </p:nvSpPr>
        <p:spPr>
          <a:xfrm>
            <a:off x="0" y="-26988"/>
            <a:ext cx="8496300" cy="6985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ctr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u="sng" dirty="0"/>
          </a:p>
          <a:p>
            <a:pPr marL="342900" lvl="0" indent="-342900" algn="ctr" rtl="0"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2520"/>
              <a:buNone/>
            </a:pPr>
            <a:endParaRPr b="1" u="sng" dirty="0"/>
          </a:p>
          <a:p>
            <a:pPr marL="342900" lvl="0" indent="-342900" algn="ctr" rtl="0"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2520"/>
              <a:buNone/>
            </a:pPr>
            <a:r>
              <a:rPr lang="en-US" b="1" dirty="0"/>
              <a:t>Who we are</a:t>
            </a:r>
            <a:endParaRPr dirty="0"/>
          </a:p>
          <a:p>
            <a:pPr marL="342900" lvl="0" indent="-342900" algn="ctr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u="sng"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BMT Diagnostics was </a:t>
            </a:r>
            <a:r>
              <a:rPr lang="en-IL" sz="1800" dirty="0">
                <a:solidFill>
                  <a:srgbClr val="07070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Founded in 2004</a:t>
            </a:r>
            <a:endParaRPr lang="en-US" sz="1800" dirty="0">
              <a:solidFill>
                <a:srgbClr val="070707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1800" dirty="0">
                <a:solidFill>
                  <a:srgbClr val="07070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Automatic manufacturing lines with high QC capabilities </a:t>
            </a: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ISO 13845:2016 – certified 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ISO5 aseptic manufacturing space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Multiple CE-marked products</a:t>
            </a:r>
            <a:endParaRPr dirty="0"/>
          </a:p>
          <a:p>
            <a:pPr marL="342900" lvl="0" indent="-251459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ctr" rtl="0"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2520"/>
              <a:buNone/>
            </a:pPr>
            <a:r>
              <a:rPr lang="en-US" b="1" dirty="0"/>
              <a:t>Our Vision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ctr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None/>
            </a:pPr>
            <a:r>
              <a:rPr lang="en-US" sz="2000" b="1" dirty="0"/>
              <a:t>Providing smart, innovative and convenient RDT solutions for Point Of Care (POC) and self testing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</p:txBody>
      </p:sp>
      <p:sp>
        <p:nvSpPr>
          <p:cNvPr id="129" name="Google Shape;129;p2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FF53B6E-0B3E-98AD-6962-4D2ED8833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140" y="1889979"/>
            <a:ext cx="7493977" cy="4732398"/>
          </a:xfrm>
          <a:prstGeom prst="rect">
            <a:avLst/>
          </a:prstGeom>
        </p:spPr>
      </p:pic>
      <p:sp>
        <p:nvSpPr>
          <p:cNvPr id="3" name="Google Shape;200;p11">
            <a:extLst>
              <a:ext uri="{FF2B5EF4-FFF2-40B4-BE49-F238E27FC236}">
                <a16:creationId xmlns:a16="http://schemas.microsoft.com/office/drawing/2014/main" id="{0A381E11-97F8-25E7-56E0-42A1B9E10B8D}"/>
              </a:ext>
            </a:extLst>
          </p:cNvPr>
          <p:cNvSpPr/>
          <p:nvPr/>
        </p:nvSpPr>
        <p:spPr>
          <a:xfrm>
            <a:off x="1547664" y="1116656"/>
            <a:ext cx="624548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 b="0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Experienced Management Team</a:t>
            </a:r>
            <a:endParaRPr sz="3200" b="0" i="0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01;p11">
            <a:extLst>
              <a:ext uri="{FF2B5EF4-FFF2-40B4-BE49-F238E27FC236}">
                <a16:creationId xmlns:a16="http://schemas.microsoft.com/office/drawing/2014/main" id="{16C1A40F-2757-BFC1-424F-ABC9E6DB71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body" idx="4294967295"/>
          </p:nvPr>
        </p:nvSpPr>
        <p:spPr>
          <a:xfrm>
            <a:off x="0" y="115888"/>
            <a:ext cx="8496300" cy="6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dirty="0"/>
          </a:p>
          <a:p>
            <a:pPr marL="342900" lvl="0" indent="-342900" algn="ctr" rtl="0"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2520"/>
              <a:buNone/>
            </a:pPr>
            <a:r>
              <a:rPr lang="en-US" b="1" dirty="0"/>
              <a:t>The Unmet Need</a:t>
            </a:r>
            <a:endParaRPr dirty="0"/>
          </a:p>
          <a:p>
            <a:pPr marL="342900" lvl="0" indent="-342900" algn="ctr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u="sng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2160"/>
              <a:buChar char="■"/>
            </a:pPr>
            <a:r>
              <a:rPr lang="en-US" sz="2400" dirty="0"/>
              <a:t>Available Rapid Diagnostic Tests (RDT) for most infectious diseases are: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500"/>
              <a:buChar char="■"/>
            </a:pPr>
            <a:r>
              <a:rPr lang="en-US" sz="2000" dirty="0"/>
              <a:t>Difficult to perform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500"/>
              <a:buChar char="■"/>
            </a:pPr>
            <a:r>
              <a:rPr lang="en-US" sz="2000" dirty="0"/>
              <a:t>Time and attention consuming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500"/>
              <a:buChar char="■"/>
            </a:pPr>
            <a:r>
              <a:rPr lang="en-US" sz="2000" dirty="0"/>
              <a:t>Non-intuitive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500"/>
              <a:buChar char="■"/>
            </a:pPr>
            <a:r>
              <a:rPr lang="en-US" sz="2000" dirty="0"/>
              <a:t>Usually preformed in a laboratory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500"/>
              <a:buChar char="■"/>
            </a:pPr>
            <a:r>
              <a:rPr lang="en-US" sz="2000" dirty="0"/>
              <a:t>Operator-dependent accuracy</a:t>
            </a:r>
            <a:endParaRPr dirty="0"/>
          </a:p>
          <a:p>
            <a:pPr marL="457200" lvl="1" indent="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500"/>
              <a:buNone/>
            </a:pPr>
            <a:endParaRPr sz="2000" dirty="0"/>
          </a:p>
          <a:p>
            <a:pPr marL="342900" lvl="0" indent="-342900" algn="ctr" rtl="0"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2520"/>
              <a:buNone/>
            </a:pPr>
            <a:r>
              <a:rPr lang="en-US" b="1" dirty="0"/>
              <a:t>Our Solution</a:t>
            </a:r>
            <a:r>
              <a:rPr lang="he-IL" b="1" dirty="0"/>
              <a:t>	-				</a:t>
            </a:r>
            <a:r>
              <a:rPr lang="en-US" sz="2000" dirty="0"/>
              <a:t> ™ 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dirty="0"/>
          </a:p>
          <a:p>
            <a:pPr marL="342900" lvl="0" indent="-342900" algn="ctr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2160"/>
              <a:buNone/>
            </a:pPr>
            <a:r>
              <a:rPr lang="en-US" sz="2400" dirty="0"/>
              <a:t>The First Patented Platform that allows No Step Convenient and Accurate RDT Performance 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</p:txBody>
      </p:sp>
      <p:sp>
        <p:nvSpPr>
          <p:cNvPr id="142" name="Google Shape;142;p4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4565" y="4478666"/>
            <a:ext cx="1387326" cy="314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>
            <a:spLocks noGrp="1"/>
          </p:cNvSpPr>
          <p:nvPr>
            <p:ph type="body" idx="4294967295"/>
          </p:nvPr>
        </p:nvSpPr>
        <p:spPr>
          <a:xfrm>
            <a:off x="647700" y="173038"/>
            <a:ext cx="8496300" cy="67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r>
              <a:rPr lang="en-US" sz="1600" b="1" i="1" baseline="300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TM</a:t>
            </a: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u="sng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220"/>
              </a:spcBef>
              <a:spcAft>
                <a:spcPts val="0"/>
              </a:spcAft>
              <a:buClr>
                <a:srgbClr val="990000"/>
              </a:buClr>
              <a:buSzPts val="990"/>
              <a:buNone/>
            </a:pPr>
            <a:endParaRPr sz="11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990000"/>
              </a:buClr>
              <a:buSzPts val="1620"/>
              <a:buNone/>
            </a:pPr>
            <a:endParaRPr sz="1800" b="1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990000"/>
              </a:buClr>
              <a:buSzPts val="1620"/>
              <a:buNone/>
            </a:pPr>
            <a:endParaRPr sz="1800" b="1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990000"/>
              </a:buClr>
              <a:buSzPts val="1620"/>
              <a:buNone/>
            </a:pPr>
            <a:endParaRPr sz="1800" b="1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990000"/>
              </a:buClr>
              <a:buSzPts val="1620"/>
              <a:buNone/>
            </a:pPr>
            <a:endParaRPr sz="1800" b="1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990000"/>
              </a:buClr>
              <a:buSzPts val="1620"/>
              <a:buNone/>
            </a:pPr>
            <a:r>
              <a:rPr lang="en-US" sz="1800" b="1" dirty="0"/>
              <a:t>Main Advantages:</a:t>
            </a:r>
            <a:endParaRPr lang="en-US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 panose="020B0604020202020204" pitchFamily="34" charset="0"/>
              <a:buChar char="■"/>
            </a:pPr>
            <a:r>
              <a:rPr lang="en-IL" sz="1600" dirty="0"/>
              <a:t>This </a:t>
            </a:r>
            <a:r>
              <a:rPr lang="en-US" sz="1600" dirty="0"/>
              <a:t>platform</a:t>
            </a:r>
            <a:r>
              <a:rPr lang="en-IL" sz="1600" dirty="0"/>
              <a:t> improves the process of patient screening shift</a:t>
            </a:r>
            <a:r>
              <a:rPr lang="en-US" sz="1600" dirty="0" err="1"/>
              <a:t>ing</a:t>
            </a:r>
            <a:r>
              <a:rPr lang="en-US" sz="1600" dirty="0"/>
              <a:t> </a:t>
            </a:r>
            <a:r>
              <a:rPr lang="en-IL" sz="1600" dirty="0"/>
              <a:t>patient screening from centralized labs to point-of-care, improving HMO service</a:t>
            </a:r>
            <a:r>
              <a:rPr lang="en-US" sz="1600" dirty="0"/>
              <a:t>, saving time &amp; money.</a:t>
            </a:r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 panose="020B0604020202020204" pitchFamily="34" charset="0"/>
              <a:buChar char="■"/>
            </a:pPr>
            <a:r>
              <a:rPr lang="en-US" sz="1600" dirty="0"/>
              <a:t>Proprietary swab for improved sample collection and higher pathogen recovery efficacies</a:t>
            </a:r>
            <a:endParaRPr lang="en-IL" sz="1600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Char char="■"/>
            </a:pPr>
            <a:r>
              <a:rPr lang="en-US" sz="1600" dirty="0"/>
              <a:t>No Step operation</a:t>
            </a:r>
            <a:endParaRPr lang="en-IL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Char char="■"/>
            </a:pPr>
            <a:r>
              <a:rPr lang="en-US" sz="1600" dirty="0"/>
              <a:t>Improved usability by untrained healthcare providers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Char char="■"/>
            </a:pPr>
            <a:r>
              <a:rPr lang="en-US" sz="1600" dirty="0"/>
              <a:t>Results available during in-patient visit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Char char="■"/>
            </a:pPr>
            <a:r>
              <a:rPr lang="en-US" sz="1600" dirty="0"/>
              <a:t>Enhanced accuracy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Char char="■"/>
            </a:pPr>
            <a:r>
              <a:rPr lang="en-US" sz="1600" dirty="0"/>
              <a:t>Minimal liquid and plastic waste disposal</a:t>
            </a:r>
            <a:endParaRPr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r>
              <a:rPr lang="en-US" sz="1600" b="1" dirty="0"/>
              <a:t>                                                                                                  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</p:txBody>
      </p:sp>
      <p:sp>
        <p:nvSpPr>
          <p:cNvPr id="166" name="Google Shape;166;p6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1368" y="1890936"/>
            <a:ext cx="5040561" cy="9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4187550" y="1280000"/>
            <a:ext cx="412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Swab-based Test  Platform</a:t>
            </a:r>
            <a:endParaRPr sz="29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20676" y="1237026"/>
            <a:ext cx="2427051" cy="50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>
            <a:spLocks noGrp="1"/>
          </p:cNvSpPr>
          <p:nvPr>
            <p:ph type="body" idx="4294967295"/>
          </p:nvPr>
        </p:nvSpPr>
        <p:spPr>
          <a:xfrm>
            <a:off x="647700" y="935038"/>
            <a:ext cx="8496300" cy="67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r>
              <a:rPr lang="en-US" sz="1600" b="1" i="1" baseline="300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TM</a:t>
            </a: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u="sng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220"/>
              </a:spcBef>
              <a:spcAft>
                <a:spcPts val="0"/>
              </a:spcAft>
              <a:buClr>
                <a:srgbClr val="990000"/>
              </a:buClr>
              <a:buSzPts val="990"/>
              <a:buNone/>
            </a:pPr>
            <a:endParaRPr sz="1100" dirty="0"/>
          </a:p>
          <a:p>
            <a:pPr marL="0" lvl="0" indent="0" algn="l" rtl="0">
              <a:spcBef>
                <a:spcPts val="220"/>
              </a:spcBef>
              <a:spcAft>
                <a:spcPts val="0"/>
              </a:spcAft>
              <a:buClr>
                <a:srgbClr val="990000"/>
              </a:buClr>
              <a:buSzPts val="990"/>
              <a:buNone/>
            </a:pPr>
            <a:endParaRPr sz="1100" dirty="0"/>
          </a:p>
          <a:p>
            <a:pPr marL="0" lvl="0" indent="0" algn="l" rtl="0">
              <a:spcBef>
                <a:spcPts val="220"/>
              </a:spcBef>
              <a:spcAft>
                <a:spcPts val="0"/>
              </a:spcAft>
              <a:buClr>
                <a:srgbClr val="990000"/>
              </a:buClr>
              <a:buSzPts val="990"/>
              <a:buNone/>
            </a:pPr>
            <a:endParaRPr sz="1100" dirty="0"/>
          </a:p>
          <a:p>
            <a:pPr marL="0" lvl="0" indent="0" algn="l" rtl="0">
              <a:spcBef>
                <a:spcPts val="220"/>
              </a:spcBef>
              <a:spcAft>
                <a:spcPts val="0"/>
              </a:spcAft>
              <a:buClr>
                <a:srgbClr val="990000"/>
              </a:buClr>
              <a:buSzPts val="990"/>
              <a:buNone/>
            </a:pPr>
            <a:endParaRPr sz="11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990000"/>
              </a:buClr>
              <a:buSzPts val="1620"/>
              <a:buNone/>
            </a:pPr>
            <a:r>
              <a:rPr lang="en-US" sz="1800" b="1" dirty="0">
                <a:solidFill>
                  <a:srgbClr val="000000"/>
                </a:solidFill>
              </a:rPr>
              <a:t>Proprietary, Innovative Platform for Multiple Swab-Based Rapid Diagnostic Indications:</a:t>
            </a:r>
            <a:endParaRPr sz="1800" b="1" dirty="0"/>
          </a:p>
          <a:p>
            <a:pPr marL="342900" indent="-342900">
              <a:spcBef>
                <a:spcPts val="320"/>
              </a:spcBef>
              <a:buClr>
                <a:srgbClr val="990000"/>
              </a:buClr>
              <a:buSzPts val="1440"/>
              <a:buFont typeface="Arial" panose="020B0604020202020204" pitchFamily="34" charset="0"/>
              <a:buChar char="■"/>
            </a:pPr>
            <a:r>
              <a:rPr lang="en-US" sz="1600" dirty="0">
                <a:solidFill>
                  <a:srgbClr val="00B0F0"/>
                </a:solidFill>
              </a:rPr>
              <a:t>Streptococcus A</a:t>
            </a:r>
            <a:endParaRPr lang="he-IL" sz="1600" dirty="0">
              <a:solidFill>
                <a:srgbClr val="00B0F0"/>
              </a:solidFill>
            </a:endParaRPr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Char char="■"/>
            </a:pPr>
            <a:r>
              <a:rPr lang="en-US" sz="1600" dirty="0">
                <a:solidFill>
                  <a:srgbClr val="00B0F0"/>
                </a:solidFill>
              </a:rPr>
              <a:t>COVID-19 Antigen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Char char="■"/>
            </a:pPr>
            <a:r>
              <a:rPr lang="en-US" sz="1600" dirty="0">
                <a:solidFill>
                  <a:srgbClr val="00B0F0"/>
                </a:solidFill>
              </a:rPr>
              <a:t>Influenza A+B</a:t>
            </a:r>
            <a:endParaRPr sz="1600" dirty="0">
              <a:solidFill>
                <a:srgbClr val="00B0F0"/>
              </a:solidFill>
            </a:endParaRPr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Char char="■"/>
            </a:pPr>
            <a:r>
              <a:rPr lang="en-US" sz="1600" dirty="0">
                <a:solidFill>
                  <a:srgbClr val="00B0F0"/>
                </a:solidFill>
              </a:rPr>
              <a:t>Streptococcus B</a:t>
            </a:r>
            <a:r>
              <a:rPr lang="en-US" sz="1600" dirty="0"/>
              <a:t> </a:t>
            </a:r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Char char="■"/>
            </a:pPr>
            <a:r>
              <a:rPr lang="en-US" sz="1600" dirty="0">
                <a:solidFill>
                  <a:srgbClr val="00B0F0"/>
                </a:solidFill>
              </a:rPr>
              <a:t>RSV</a:t>
            </a:r>
            <a:endParaRPr sz="1600" dirty="0">
              <a:solidFill>
                <a:srgbClr val="00B0F0"/>
              </a:solidFill>
            </a:endParaRPr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Char char="■"/>
            </a:pPr>
            <a:r>
              <a:rPr lang="en-US" sz="1600" dirty="0">
                <a:solidFill>
                  <a:srgbClr val="00B0F0"/>
                </a:solidFill>
              </a:rPr>
              <a:t>Multiple additional indications</a:t>
            </a:r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Char char="■"/>
            </a:pPr>
            <a:r>
              <a:rPr lang="en-US" sz="1600" dirty="0">
                <a:solidFill>
                  <a:srgbClr val="00B0F0"/>
                </a:solidFill>
              </a:rPr>
              <a:t>R&amp;D process on combo tests</a:t>
            </a:r>
            <a:endParaRPr sz="1600" dirty="0">
              <a:solidFill>
                <a:srgbClr val="00B0F0"/>
              </a:solidFill>
            </a:endParaRPr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6AA84F"/>
              </a:buClr>
              <a:buSzPts val="1440"/>
              <a:buChar char="■"/>
            </a:pPr>
            <a:r>
              <a:rPr lang="en-US" sz="1600" b="1" u="sng" dirty="0">
                <a:solidFill>
                  <a:srgbClr val="6AA84F"/>
                </a:solidFill>
              </a:rPr>
              <a:t>Patents granted world wide</a:t>
            </a:r>
            <a:r>
              <a:rPr lang="en-US" sz="1600" b="1" dirty="0">
                <a:solidFill>
                  <a:srgbClr val="6AA84F"/>
                </a:solidFill>
              </a:rPr>
              <a:t>,	 with several Continuation Applications </a:t>
            </a:r>
            <a:endParaRPr b="1" dirty="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r>
              <a:rPr lang="en-US" sz="1600" b="1" dirty="0"/>
              <a:t>                                                                                                  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</p:txBody>
      </p:sp>
      <p:sp>
        <p:nvSpPr>
          <p:cNvPr id="150" name="Google Shape;150;p5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1368" y="1814736"/>
            <a:ext cx="5040561" cy="9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4187550" y="1280000"/>
            <a:ext cx="4120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Swab-based Test  Platform</a:t>
            </a:r>
            <a:endParaRPr sz="29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0676" y="1237026"/>
            <a:ext cx="2427051" cy="50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 txBox="1">
            <a:spLocks noGrp="1"/>
          </p:cNvSpPr>
          <p:nvPr>
            <p:ph type="body" idx="4294967295"/>
          </p:nvPr>
        </p:nvSpPr>
        <p:spPr>
          <a:xfrm>
            <a:off x="647700" y="173038"/>
            <a:ext cx="8496300" cy="67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CCC99"/>
              </a:buClr>
              <a:buSzPts val="2160"/>
              <a:buNone/>
            </a:pPr>
            <a:endParaRPr sz="2400" b="1">
              <a:solidFill>
                <a:srgbClr val="990000"/>
              </a:solidFill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rgbClr val="CCCC99"/>
              </a:buClr>
              <a:buSzPts val="2160"/>
              <a:buNone/>
            </a:pPr>
            <a:r>
              <a:rPr lang="en-US" sz="2400" b="1">
                <a:solidFill>
                  <a:srgbClr val="990000"/>
                </a:solidFill>
              </a:rPr>
              <a:t> </a:t>
            </a:r>
            <a:endParaRPr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2160"/>
              <a:buNone/>
            </a:pPr>
            <a:endParaRPr sz="2400" b="1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2160"/>
              <a:buNone/>
            </a:pPr>
            <a:r>
              <a:rPr lang="en-US" sz="2400" b="1"/>
              <a:t>Strong and Diversified Israeli Customer Base: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/>
              <a:t>All HMOs 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/>
              <a:t>Hospitals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/>
              <a:t>Military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/>
              <a:t>Police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/>
              <a:t>Pharmacies – private and the two leading chains (total &gt;500 individual sites)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500"/>
              <a:buChar char="■"/>
            </a:pPr>
            <a:r>
              <a:rPr lang="en-US" sz="2000"/>
              <a:t>Super Pharm (Over 300 sites)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500"/>
              <a:buChar char="■"/>
            </a:pPr>
            <a:r>
              <a:rPr lang="en-US" sz="2000"/>
              <a:t>Be (New Pharm -Over 80 sites)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/>
              <a:t>Private clinics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/>
              <a:t>Medical centers</a:t>
            </a:r>
            <a:endParaRPr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/>
          </a:p>
        </p:txBody>
      </p:sp>
      <p:sp>
        <p:nvSpPr>
          <p:cNvPr id="236" name="Google Shape;236;p11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547664" y="539969"/>
            <a:ext cx="624548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Marketing Activity - Israel</a:t>
            </a:r>
            <a:endParaRPr sz="3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 txBox="1">
            <a:spLocks noGrp="1"/>
          </p:cNvSpPr>
          <p:nvPr>
            <p:ph type="body" idx="4294967295"/>
          </p:nvPr>
        </p:nvSpPr>
        <p:spPr>
          <a:xfrm>
            <a:off x="647700" y="173038"/>
            <a:ext cx="8496300" cy="67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CCC99"/>
              </a:buClr>
              <a:buSzPts val="2160"/>
              <a:buNone/>
            </a:pPr>
            <a:endParaRPr sz="2400" b="1" dirty="0">
              <a:solidFill>
                <a:srgbClr val="990000"/>
              </a:solidFill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rgbClr val="CCCC99"/>
              </a:buClr>
              <a:buSzPts val="2160"/>
              <a:buNone/>
            </a:pPr>
            <a:r>
              <a:rPr lang="en-US" sz="2400" b="1" dirty="0">
                <a:solidFill>
                  <a:srgbClr val="990000"/>
                </a:solidFill>
              </a:rPr>
              <a:t> 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2160"/>
              <a:buNone/>
            </a:pPr>
            <a:r>
              <a:rPr lang="en-US" sz="2400" b="1" dirty="0"/>
              <a:t>Growing International Customer Base: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Europe (ongoing)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Australia (TGA approval received)</a:t>
            </a: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800"/>
              <a:buChar char="■"/>
            </a:pPr>
            <a:r>
              <a:rPr lang="en-US" sz="2000" dirty="0"/>
              <a:t>USA (FDA approval expected in 2025-Q2)</a:t>
            </a:r>
            <a:endParaRPr dirty="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rgbClr val="990000"/>
              </a:buClr>
              <a:buSzPts val="1440"/>
              <a:buNone/>
            </a:pPr>
            <a:endParaRPr sz="1600" b="1" dirty="0"/>
          </a:p>
        </p:txBody>
      </p:sp>
      <p:sp>
        <p:nvSpPr>
          <p:cNvPr id="244" name="Google Shape;244;p12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1043608" y="539969"/>
            <a:ext cx="676875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32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Marketing Activity - International</a:t>
            </a:r>
            <a:endParaRPr sz="3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/>
          <p:nvPr/>
        </p:nvSpPr>
        <p:spPr>
          <a:xfrm>
            <a:off x="2987824" y="357188"/>
            <a:ext cx="5798989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440160" cy="9896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0680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"/>
          <p:cNvSpPr txBox="1"/>
          <p:nvPr/>
        </p:nvSpPr>
        <p:spPr>
          <a:xfrm>
            <a:off x="1157288" y="3000375"/>
            <a:ext cx="66294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i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3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i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i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91800"/>
            <a:ext cx="8839200" cy="27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</TotalTime>
  <Words>317</Words>
  <Application>Microsoft Office PowerPoint</Application>
  <PresentationFormat>On-screen Show (4:3)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 Light</vt:lpstr>
      <vt:lpstr>Arial</vt:lpstr>
      <vt:lpstr>Calibri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Windows User</dc:creator>
  <cp:lastModifiedBy>Roey Tamir</cp:lastModifiedBy>
  <cp:revision>4</cp:revision>
  <dcterms:created xsi:type="dcterms:W3CDTF">2009-05-10T08:50:28Z</dcterms:created>
  <dcterms:modified xsi:type="dcterms:W3CDTF">2024-10-15T08:17:01Z</dcterms:modified>
</cp:coreProperties>
</file>