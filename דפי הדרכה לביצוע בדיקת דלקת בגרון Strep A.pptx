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115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424F-BE3B-966A-8BD3-658F7A30F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21259-C304-99C6-A571-4EADDD4BA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3D802-9BDD-EAE0-C366-3BEE7EC5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1146F-88B0-281E-EE61-4294F03D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55687-D294-1D9A-A447-61001158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267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4C8F-B504-C874-DB3B-3E48300C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F8293-8971-0B4E-7AB1-F41CAE7B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73E0D-5C7C-FAC2-BB5E-DDD50BBF4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738E-EBF3-E01D-75CD-21C8015D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3CDB2-A98C-C77E-0714-704C23DC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723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E6D4-9949-5C9F-A907-2D3D4606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67B27-28BE-881C-7523-693493ADA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468DF-0394-BBA1-1FD1-8CA9DF0E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A571-2FE7-F4CC-0C9C-E2CD2983C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F9ADF-CAA5-113D-DFCD-32C18201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6863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7A2C-D7BD-56EC-E967-0BAD0FB8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31168-1AB9-B24A-1C94-48D306290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B06D6-41FE-814C-B6E2-E854B2FE3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F453C-506E-A25A-5D29-EF6EBF07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EA625-541D-69DE-8962-6D609C74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FC989-ED87-8A57-9B27-122BB765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2680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E82B-82ED-E6CB-64C4-6BEA57A2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FB17D-07DC-4EEC-B1EF-32061A4F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E877B-19D8-4110-F7EE-96357F61A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EBF0C-04AE-B7D1-896B-9B2A8C861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D0148E-2670-9D5D-B349-4F7E5C3C6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2CA80-9636-39BC-3444-10AB1C62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F18257-4BF2-EDD4-51B7-88B31116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930F8-8907-0EFE-5C71-29314BCE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314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CC30-A7F9-E862-7CBB-727C14A4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BCA87-ED2D-9CE4-F99E-C56D396C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8C509-579D-FA91-07A7-CF239472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7277E-0CF2-4169-7E23-3C856CA9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7538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18250-454F-3FAB-CEC6-FA06CC1C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C8507-CDE6-E46C-9E68-23F4B2C9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11717-60E7-A3CA-9577-BDF4759E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1898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B07B-F193-04E9-8DC7-98AE716C9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190FB-D39E-ED81-1416-48612129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6A31B-27E8-1BAD-49B2-57789F044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E300A-5F85-41B7-D447-B0270C93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2FFE2-6BF9-BE17-7D8C-3845634C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FE45A-E068-0E01-238A-B27FCFFE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196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4B1F-634D-E0AD-1396-F9FFF1E4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D9E5A-689F-FF8E-1BA3-A45E3F0AB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AEA12-2B93-3D97-7794-A8E14697B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F0961-05BF-04EF-74C5-65A2E2E3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7DECD-38FE-DDC3-5DF3-EAD578A2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B0CD-F43D-55E7-B13E-C7740F1F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697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F8D3-706B-325C-4EDC-21410A49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5FF1E-0F56-C182-6569-4F6254B6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06FE5-767B-F9AC-F544-D761EF6A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5B4B5-1C17-B3DE-70AD-60637F4D4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26E9E-BB03-2254-19E9-E6CFCA9B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8737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25973-1CAE-334B-D87B-135EC5B5A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64184-D547-1B59-3F68-4D838CFDD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51A33-7439-C6F9-06F1-1408B644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E9E48-DB3C-6EBE-5CDC-362A100F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7239C-3F2D-008B-CA32-000EEF3B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064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2FD6F-BF3A-9574-A9D3-FB1C15EA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EBFD-4EAD-BBBE-0F0E-5CCF159DC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385F6-EE8E-6DF4-7216-5F222FBA8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C02A9-B953-4888-B19A-F107D66C6324}" type="datetimeFigureOut">
              <a:rPr lang="en-IL" smtClean="0"/>
              <a:t>11/11/2024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F04D0-7DF2-ADD8-1FCB-4255C4836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4424F-2EC1-D44B-A56B-D31441C13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49E22-1763-4773-8A48-8F896C479F2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106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404D9DD-8691-95B1-3F5E-19EF5F508D3E}"/>
              </a:ext>
            </a:extLst>
          </p:cNvPr>
          <p:cNvSpPr/>
          <p:nvPr/>
        </p:nvSpPr>
        <p:spPr>
          <a:xfrm>
            <a:off x="1251363" y="-91222"/>
            <a:ext cx="9041258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Strep A Rapid Test</a:t>
            </a:r>
          </a:p>
          <a:p>
            <a:pPr algn="ctr"/>
            <a:r>
              <a:rPr lang="he-IL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התקן משולב לבדיקה מיידית של דלקת גרון</a:t>
            </a:r>
            <a:endParaRPr lang="en-US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he-IL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endParaRPr lang="en-IL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7" name="Picture 16" descr="A plastic cup with a spoon in it&#10;&#10;Description automatically generated">
            <a:extLst>
              <a:ext uri="{FF2B5EF4-FFF2-40B4-BE49-F238E27FC236}">
                <a16:creationId xmlns:a16="http://schemas.microsoft.com/office/drawing/2014/main" id="{301FF621-5215-8BE9-4DB6-C1162D500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" y="1197674"/>
            <a:ext cx="6096000" cy="2842260"/>
          </a:xfrm>
          <a:prstGeom prst="rect">
            <a:avLst/>
          </a:prstGeom>
        </p:spPr>
      </p:pic>
      <p:pic>
        <p:nvPicPr>
          <p:cNvPr id="11" name="Picture 10" descr="A white pen with a white cap&#10;&#10;Description automatically generated">
            <a:extLst>
              <a:ext uri="{FF2B5EF4-FFF2-40B4-BE49-F238E27FC236}">
                <a16:creationId xmlns:a16="http://schemas.microsoft.com/office/drawing/2014/main" id="{7A130386-7B6D-1FDB-F23F-85E2FDF02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" y="4019838"/>
            <a:ext cx="6096000" cy="2842260"/>
          </a:xfrm>
          <a:prstGeom prst="rect">
            <a:avLst/>
          </a:prstGeom>
        </p:spPr>
      </p:pic>
      <p:pic>
        <p:nvPicPr>
          <p:cNvPr id="5" name="Picture 4" descr="A white pen with a blue background&#10;&#10;Description automatically generated">
            <a:extLst>
              <a:ext uri="{FF2B5EF4-FFF2-40B4-BE49-F238E27FC236}">
                <a16:creationId xmlns:a16="http://schemas.microsoft.com/office/drawing/2014/main" id="{2802CE9B-2BA0-DF3D-9DA6-C307D4F82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60" y="4015827"/>
            <a:ext cx="6096000" cy="2842260"/>
          </a:xfrm>
          <a:prstGeom prst="rect">
            <a:avLst/>
          </a:prstGeom>
        </p:spPr>
      </p:pic>
      <p:pic>
        <p:nvPicPr>
          <p:cNvPr id="9" name="Picture 8" descr="A plastic container with a lid&#10;&#10;Description automatically generated">
            <a:extLst>
              <a:ext uri="{FF2B5EF4-FFF2-40B4-BE49-F238E27FC236}">
                <a16:creationId xmlns:a16="http://schemas.microsoft.com/office/drawing/2014/main" id="{EBA56AB6-1061-E2F7-03BB-3E03FFB8C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8463" y="1191637"/>
            <a:ext cx="6096000" cy="28422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59EF59-F7EE-A110-7E3E-43CDA1CB8006}"/>
              </a:ext>
            </a:extLst>
          </p:cNvPr>
          <p:cNvSpPr txBox="1"/>
          <p:nvPr/>
        </p:nvSpPr>
        <p:spPr>
          <a:xfrm>
            <a:off x="11715889" y="1286306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1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B32BA-EE33-30B6-0BF4-FDE6E48EBEDA}"/>
              </a:ext>
            </a:extLst>
          </p:cNvPr>
          <p:cNvSpPr txBox="1"/>
          <p:nvPr/>
        </p:nvSpPr>
        <p:spPr>
          <a:xfrm>
            <a:off x="5582777" y="1248009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2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02916E-2B6B-DA23-6173-4C29DE5FC5F7}"/>
              </a:ext>
            </a:extLst>
          </p:cNvPr>
          <p:cNvSpPr txBox="1"/>
          <p:nvPr/>
        </p:nvSpPr>
        <p:spPr>
          <a:xfrm>
            <a:off x="11715889" y="420551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3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1458AB-EF9B-B950-AA28-FBAE28E49D7B}"/>
              </a:ext>
            </a:extLst>
          </p:cNvPr>
          <p:cNvSpPr txBox="1"/>
          <p:nvPr/>
        </p:nvSpPr>
        <p:spPr>
          <a:xfrm>
            <a:off x="5620005" y="4067002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4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C41CD3-4B8C-DB17-609C-893558F07F20}"/>
              </a:ext>
            </a:extLst>
          </p:cNvPr>
          <p:cNvSpPr txBox="1"/>
          <p:nvPr/>
        </p:nvSpPr>
        <p:spPr>
          <a:xfrm>
            <a:off x="9400832" y="1363250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הוצא את מגש המבחנות</a:t>
            </a:r>
            <a:endParaRPr lang="en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1E6370-5624-5860-C0F9-0B8337FCD1DE}"/>
              </a:ext>
            </a:extLst>
          </p:cNvPr>
          <p:cNvSpPr txBox="1"/>
          <p:nvPr/>
        </p:nvSpPr>
        <p:spPr>
          <a:xfrm>
            <a:off x="3048000" y="1330701"/>
            <a:ext cx="259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הסר את מכסה האלומיניום </a:t>
            </a:r>
            <a:endParaRPr lang="en-I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F0D007-C87B-FF7F-DA5E-2FEA95AF3C4B}"/>
              </a:ext>
            </a:extLst>
          </p:cNvPr>
          <p:cNvSpPr txBox="1"/>
          <p:nvPr/>
        </p:nvSpPr>
        <p:spPr>
          <a:xfrm>
            <a:off x="8577975" y="4265461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הוצא את התקן הבדיקה מהאריזה</a:t>
            </a:r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B67DB4-454E-271A-0920-9DF689F92CC0}"/>
              </a:ext>
            </a:extLst>
          </p:cNvPr>
          <p:cNvSpPr txBox="1"/>
          <p:nvPr/>
        </p:nvSpPr>
        <p:spPr>
          <a:xfrm>
            <a:off x="2695340" y="4180664"/>
            <a:ext cx="2946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הסר את הפקק מהתקן הבדיקה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7318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pen&#10;&#10;Description automatically generated">
            <a:extLst>
              <a:ext uri="{FF2B5EF4-FFF2-40B4-BE49-F238E27FC236}">
                <a16:creationId xmlns:a16="http://schemas.microsoft.com/office/drawing/2014/main" id="{860CA1F3-08EA-9C23-6480-7B5B4EBE3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" y="4015739"/>
            <a:ext cx="6096000" cy="2842260"/>
          </a:xfrm>
          <a:prstGeom prst="rect">
            <a:avLst/>
          </a:prstGeom>
        </p:spPr>
      </p:pic>
      <p:pic>
        <p:nvPicPr>
          <p:cNvPr id="5" name="Picture 4" descr="A close-up of a pen in the mouth&#10;&#10;Description automatically generated">
            <a:extLst>
              <a:ext uri="{FF2B5EF4-FFF2-40B4-BE49-F238E27FC236}">
                <a16:creationId xmlns:a16="http://schemas.microsoft.com/office/drawing/2014/main" id="{1CB10B30-A247-0006-19DC-B62B0F11C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320" y="4015739"/>
            <a:ext cx="6096002" cy="2842261"/>
          </a:xfrm>
          <a:prstGeom prst="rect">
            <a:avLst/>
          </a:prstGeom>
        </p:spPr>
      </p:pic>
      <p:pic>
        <p:nvPicPr>
          <p:cNvPr id="7" name="Picture 6" descr="A close-up of a syringe&#10;&#10;Description automatically generated">
            <a:extLst>
              <a:ext uri="{FF2B5EF4-FFF2-40B4-BE49-F238E27FC236}">
                <a16:creationId xmlns:a16="http://schemas.microsoft.com/office/drawing/2014/main" id="{114EE2A8-50C3-F72E-FBAE-96376C26FB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71" y="1173478"/>
            <a:ext cx="6096000" cy="2842260"/>
          </a:xfrm>
          <a:prstGeom prst="rect">
            <a:avLst/>
          </a:prstGeom>
        </p:spPr>
      </p:pic>
      <p:pic>
        <p:nvPicPr>
          <p:cNvPr id="9" name="Picture 8" descr="A close up of a mouth&#10;&#10;Description automatically generated">
            <a:extLst>
              <a:ext uri="{FF2B5EF4-FFF2-40B4-BE49-F238E27FC236}">
                <a16:creationId xmlns:a16="http://schemas.microsoft.com/office/drawing/2014/main" id="{AED9430F-CAF8-D365-D250-63880E6DCC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314" y="1173477"/>
            <a:ext cx="6096000" cy="28422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2DB95B-1272-AD39-712F-43C5FDB1C6BD}"/>
              </a:ext>
            </a:extLst>
          </p:cNvPr>
          <p:cNvSpPr txBox="1"/>
          <p:nvPr/>
        </p:nvSpPr>
        <p:spPr>
          <a:xfrm>
            <a:off x="11743039" y="1272648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5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507473-AA36-7AFE-C24D-B476C7C4B0FB}"/>
              </a:ext>
            </a:extLst>
          </p:cNvPr>
          <p:cNvSpPr txBox="1"/>
          <p:nvPr/>
        </p:nvSpPr>
        <p:spPr>
          <a:xfrm>
            <a:off x="8465427" y="1344314"/>
            <a:ext cx="330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אפשר גישה ללוע באמצעות </a:t>
            </a:r>
            <a:r>
              <a:rPr lang="he-IL" dirty="0" err="1">
                <a:solidFill>
                  <a:schemeClr val="bg1"/>
                </a:solidFill>
              </a:rPr>
              <a:t>השפדל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5690D-940E-7EE7-F8BB-4632CDF57DCD}"/>
              </a:ext>
            </a:extLst>
          </p:cNvPr>
          <p:cNvSpPr txBox="1"/>
          <p:nvPr/>
        </p:nvSpPr>
        <p:spPr>
          <a:xfrm>
            <a:off x="5642257" y="1267370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6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E926E-80DB-F8C8-71FC-A79272409D0F}"/>
              </a:ext>
            </a:extLst>
          </p:cNvPr>
          <p:cNvSpPr txBox="1"/>
          <p:nvPr/>
        </p:nvSpPr>
        <p:spPr>
          <a:xfrm>
            <a:off x="11743039" y="4087403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7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1DCEE-3E9F-4328-0070-16C6431C2713}"/>
              </a:ext>
            </a:extLst>
          </p:cNvPr>
          <p:cNvSpPr txBox="1"/>
          <p:nvPr/>
        </p:nvSpPr>
        <p:spPr>
          <a:xfrm>
            <a:off x="5653722" y="4031827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8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1F756-FE47-690F-3E92-FEFDDAA6CA5B}"/>
              </a:ext>
            </a:extLst>
          </p:cNvPr>
          <p:cNvSpPr txBox="1"/>
          <p:nvPr/>
        </p:nvSpPr>
        <p:spPr>
          <a:xfrm>
            <a:off x="1148719" y="1344314"/>
            <a:ext cx="449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solidFill>
                  <a:schemeClr val="bg1"/>
                </a:solidFill>
              </a:rPr>
              <a:t>יש לקחת דגימה מהלוע עם קצה ההתקן המרופד 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A0A230-CD26-5C2A-7161-D238D53A46E2}"/>
              </a:ext>
            </a:extLst>
          </p:cNvPr>
          <p:cNvSpPr txBox="1"/>
          <p:nvPr/>
        </p:nvSpPr>
        <p:spPr>
          <a:xfrm>
            <a:off x="7443931" y="4084860"/>
            <a:ext cx="4241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e-IL" dirty="0">
                <a:solidFill>
                  <a:schemeClr val="bg1"/>
                </a:solidFill>
              </a:rPr>
              <a:t>יש לבצע את האיסוף ממספר אזורים דלקתיים </a:t>
            </a:r>
          </a:p>
          <a:p>
            <a:pPr algn="r"/>
            <a:r>
              <a:rPr lang="he-IL" dirty="0">
                <a:solidFill>
                  <a:schemeClr val="bg1"/>
                </a:solidFill>
              </a:rPr>
              <a:t>להימנע ממגע עם הלשון הלחי או השיניים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7A4EB8-5401-1FD9-1307-70C4FF3D9E15}"/>
              </a:ext>
            </a:extLst>
          </p:cNvPr>
          <p:cNvSpPr txBox="1"/>
          <p:nvPr/>
        </p:nvSpPr>
        <p:spPr>
          <a:xfrm>
            <a:off x="3047997" y="3956997"/>
            <a:ext cx="256512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e-IL" sz="1600" dirty="0"/>
              <a:t>הכנס את קצה ההתקן המרופד</a:t>
            </a:r>
          </a:p>
          <a:p>
            <a:pPr algn="r"/>
            <a:r>
              <a:rPr lang="he-IL" sz="1600" dirty="0"/>
              <a:t>המכיל את דגימת הגרון</a:t>
            </a:r>
          </a:p>
          <a:p>
            <a:pPr algn="r"/>
            <a:r>
              <a:rPr lang="he-IL" sz="1600" dirty="0"/>
              <a:t>לתוך המבחנה</a:t>
            </a:r>
          </a:p>
          <a:p>
            <a:pPr algn="r"/>
            <a:r>
              <a:rPr lang="he-IL" sz="1600" dirty="0"/>
              <a:t>וערבב בעדינות מספר פעמים</a:t>
            </a:r>
            <a:endParaRPr lang="en-IL" sz="16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1F7A73-6250-0FF1-4CFD-81B301CCCDB8}"/>
              </a:ext>
            </a:extLst>
          </p:cNvPr>
          <p:cNvSpPr/>
          <p:nvPr/>
        </p:nvSpPr>
        <p:spPr>
          <a:xfrm>
            <a:off x="4052916" y="154999"/>
            <a:ext cx="322716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ביצוע הבדיקה </a:t>
            </a:r>
            <a:endParaRPr lang="en-US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he-IL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endParaRPr lang="en-IL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70249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pregnancy test&#10;&#10;Description automatically generated">
            <a:extLst>
              <a:ext uri="{FF2B5EF4-FFF2-40B4-BE49-F238E27FC236}">
                <a16:creationId xmlns:a16="http://schemas.microsoft.com/office/drawing/2014/main" id="{D28B1AAD-31FF-4D17-B59D-3EB043CBF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" y="1951893"/>
            <a:ext cx="6096000" cy="2842260"/>
          </a:xfrm>
          <a:prstGeom prst="rect">
            <a:avLst/>
          </a:prstGeom>
        </p:spPr>
      </p:pic>
      <p:pic>
        <p:nvPicPr>
          <p:cNvPr id="7" name="Picture 6" descr="A white pen with a cap&#10;&#10;Description automatically generated">
            <a:extLst>
              <a:ext uri="{FF2B5EF4-FFF2-40B4-BE49-F238E27FC236}">
                <a16:creationId xmlns:a16="http://schemas.microsoft.com/office/drawing/2014/main" id="{37F71E23-CAA3-5E31-E867-4FDBF8F00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58" y="1951893"/>
            <a:ext cx="6096000" cy="2842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C89B13-D0D4-D4EC-227E-C8F09B889B7B}"/>
              </a:ext>
            </a:extLst>
          </p:cNvPr>
          <p:cNvSpPr txBox="1"/>
          <p:nvPr/>
        </p:nvSpPr>
        <p:spPr>
          <a:xfrm>
            <a:off x="11800273" y="205306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8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B3076-C727-E263-BB71-73227DB73C2A}"/>
              </a:ext>
            </a:extLst>
          </p:cNvPr>
          <p:cNvSpPr txBox="1"/>
          <p:nvPr/>
        </p:nvSpPr>
        <p:spPr>
          <a:xfrm>
            <a:off x="7716947" y="1478438"/>
            <a:ext cx="2880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חכה 5 דקות לקריאת התוצאה </a:t>
            </a:r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140E9-3A1D-AB17-5575-78BA2D98797B}"/>
              </a:ext>
            </a:extLst>
          </p:cNvPr>
          <p:cNvSpPr txBox="1"/>
          <p:nvPr/>
        </p:nvSpPr>
        <p:spPr>
          <a:xfrm>
            <a:off x="5666501" y="2053065"/>
            <a:ext cx="385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>
                <a:solidFill>
                  <a:srgbClr val="FF0000"/>
                </a:solidFill>
              </a:rPr>
              <a:t>9</a:t>
            </a:r>
            <a:endParaRPr lang="en-IL" sz="28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BD118B-79CD-8166-6013-3D783278D725}"/>
              </a:ext>
            </a:extLst>
          </p:cNvPr>
          <p:cNvSpPr txBox="1"/>
          <p:nvPr/>
        </p:nvSpPr>
        <p:spPr>
          <a:xfrm>
            <a:off x="2081845" y="1478438"/>
            <a:ext cx="233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קרא את תוצאת הבדיקה</a:t>
            </a:r>
            <a:endParaRPr lang="en-I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0DBC3E-C094-C3B6-9A26-6D00CA127A2A}"/>
              </a:ext>
            </a:extLst>
          </p:cNvPr>
          <p:cNvSpPr/>
          <p:nvPr/>
        </p:nvSpPr>
        <p:spPr>
          <a:xfrm>
            <a:off x="3921472" y="154999"/>
            <a:ext cx="349005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קריאת התוצאה </a:t>
            </a:r>
            <a:endParaRPr lang="en-US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he-IL" sz="40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endParaRPr lang="en-IL" sz="40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1D454-4229-7571-8BD0-3419113CB0C7}"/>
              </a:ext>
            </a:extLst>
          </p:cNvPr>
          <p:cNvSpPr txBox="1"/>
          <p:nvPr/>
        </p:nvSpPr>
        <p:spPr>
          <a:xfrm>
            <a:off x="1579486" y="2176175"/>
            <a:ext cx="665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dirty="0">
                <a:solidFill>
                  <a:srgbClr val="C00000"/>
                </a:solidFill>
              </a:rPr>
              <a:t>חיובי</a:t>
            </a:r>
            <a:endParaRPr lang="en-IL" sz="2000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CBFDC9-EFE9-34EC-D8DE-A438B3CA8589}"/>
              </a:ext>
            </a:extLst>
          </p:cNvPr>
          <p:cNvSpPr txBox="1"/>
          <p:nvPr/>
        </p:nvSpPr>
        <p:spPr>
          <a:xfrm>
            <a:off x="3807812" y="2176175"/>
            <a:ext cx="724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000" dirty="0">
                <a:solidFill>
                  <a:srgbClr val="0070C0"/>
                </a:solidFill>
              </a:rPr>
              <a:t>שלילי</a:t>
            </a:r>
            <a:endParaRPr lang="en-IL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67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99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Roey Tamir</dc:creator>
  <cp:lastModifiedBy>Roey Tamir</cp:lastModifiedBy>
  <cp:revision>3</cp:revision>
  <dcterms:created xsi:type="dcterms:W3CDTF">2024-11-11T16:23:38Z</dcterms:created>
  <dcterms:modified xsi:type="dcterms:W3CDTF">2024-11-11T17:06:48Z</dcterms:modified>
</cp:coreProperties>
</file>