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 bookmarkIdSeed="6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93" r:id="rId4"/>
    <p:sldId id="270" r:id="rId5"/>
    <p:sldId id="295" r:id="rId6"/>
    <p:sldId id="296" r:id="rId7"/>
    <p:sldId id="291" r:id="rId8"/>
    <p:sldId id="290" r:id="rId9"/>
    <p:sldId id="261" r:id="rId10"/>
    <p:sldId id="274" r:id="rId11"/>
    <p:sldId id="288" r:id="rId12"/>
    <p:sldId id="289" r:id="rId13"/>
    <p:sldId id="276" r:id="rId14"/>
    <p:sldId id="279" r:id="rId15"/>
  </p:sldIdLst>
  <p:sldSz cx="9144000" cy="6858000" type="screen4x3"/>
  <p:notesSz cx="7315200" cy="96012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7" roundtripDataSignature="AMtx7mi1He/W0iLAPTJzLdbR00kxCpOW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6665DE9-0776-4847-8D33-EFD82EFCD008}" v="4" dt="2023-06-21T14:12:15.72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450" y="6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42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7" Type="http://customschemas.google.com/relationships/presentationmetadata" Target="meta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143375" y="0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r" rtl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r" rtl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r" rtl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120188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fld id="{00000000-1234-1234-1234-123412341234}" type="slidenum">
              <a:rPr lang="en-US"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>
            <a:spLocks noGrp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7" name="Google Shape;9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 txBox="1">
            <a:spLocks noGrp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5" name="Google Shape;12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7:notes"/>
          <p:cNvSpPr txBox="1">
            <a:spLocks noGrp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3" name="Google Shape;23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9:notes"/>
          <p:cNvSpPr txBox="1">
            <a:spLocks noGrp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6" name="Google Shape;24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6:notes"/>
          <p:cNvSpPr txBox="1">
            <a:spLocks noGrp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5" name="Google Shape;27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3"/>
          <p:cNvSpPr txBox="1"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3"/>
          <p:cNvSpPr txBox="1"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8" name="Google Shape;18;p33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3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3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4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4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4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5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5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35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5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35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6"/>
          <p:cNvSpPr txBox="1"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36"/>
          <p:cNvSpPr txBox="1"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36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36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36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7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37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37"/>
          <p:cNvSpPr txBox="1">
            <a:spLocks noGrp="1"/>
          </p:cNvSpPr>
          <p:nvPr>
            <p:ph type="body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37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37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37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8"/>
          <p:cNvSpPr txBox="1"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38"/>
          <p:cNvSpPr txBox="1"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38"/>
          <p:cNvSpPr txBox="1">
            <a:spLocks noGrp="1"/>
          </p:cNvSpPr>
          <p:nvPr>
            <p:ph type="body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38"/>
          <p:cNvSpPr txBox="1">
            <a:spLocks noGrp="1"/>
          </p:cNvSpPr>
          <p:nvPr>
            <p:ph type="body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9" name="Google Shape;49;p38"/>
          <p:cNvSpPr txBox="1">
            <a:spLocks noGrp="1"/>
          </p:cNvSpPr>
          <p:nvPr>
            <p:ph type="body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38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38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38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9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39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9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39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0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40"/>
          <p:cNvSpPr txBox="1">
            <a:spLocks noGrp="1"/>
          </p:cNvSpPr>
          <p:nvPr>
            <p:ph type="body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1" name="Google Shape;61;p40"/>
          <p:cNvSpPr txBox="1"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2" name="Google Shape;62;p40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40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40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1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41"/>
          <p:cNvSpPr>
            <a:spLocks noGrp="1"/>
          </p:cNvSpPr>
          <p:nvPr>
            <p:ph type="pic" idx="2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41"/>
          <p:cNvSpPr txBox="1">
            <a:spLocks noGrp="1"/>
          </p:cNvSpPr>
          <p:nvPr>
            <p:ph type="body" idx="1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9" name="Google Shape;69;p41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41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41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2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42"/>
          <p:cNvSpPr txBox="1">
            <a:spLocks noGrp="1"/>
          </p:cNvSpPr>
          <p:nvPr>
            <p:ph type="body" idx="1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42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42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42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3"/>
          <p:cNvSpPr txBox="1">
            <a:spLocks noGrp="1"/>
          </p:cNvSpPr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43"/>
          <p:cNvSpPr txBox="1">
            <a:spLocks noGrp="1"/>
          </p:cNvSpPr>
          <p:nvPr>
            <p:ph type="body" idx="1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43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43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43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2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32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32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32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32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2.png"/><Relationship Id="rId4" Type="http://schemas.openxmlformats.org/officeDocument/2006/relationships/image" Target="../media/image6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0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ctrTitle"/>
          </p:nvPr>
        </p:nvSpPr>
        <p:spPr>
          <a:xfrm>
            <a:off x="1157288" y="3141663"/>
            <a:ext cx="6629400" cy="3716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600"/>
              <a:buFont typeface="Calibri"/>
              <a:buNone/>
            </a:pPr>
            <a:br>
              <a:rPr lang="en-US" sz="3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36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1157288" y="1268760"/>
            <a:ext cx="6223024" cy="19759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endParaRPr sz="3600" b="1" i="0" u="none" strike="noStrike" cap="non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Calibri"/>
              <a:buNone/>
            </a:pPr>
            <a:r>
              <a:rPr lang="en-US" sz="3600" b="0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Intelligent, Convenient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Calibri"/>
              <a:buNone/>
            </a:pPr>
            <a:r>
              <a:rPr lang="en-US" sz="3600" b="0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Rapid Diagnostic Testing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" name="Google Shape;90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9552" y="4960867"/>
            <a:ext cx="7626379" cy="1223389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51920" y="3789040"/>
            <a:ext cx="2880320" cy="68675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"/>
          <p:cNvSpPr txBox="1"/>
          <p:nvPr/>
        </p:nvSpPr>
        <p:spPr>
          <a:xfrm>
            <a:off x="6732240" y="3866599"/>
            <a:ext cx="4572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Calibri"/>
              <a:buNone/>
            </a:pPr>
            <a:r>
              <a:rPr lang="en-US" sz="1800" b="1" i="1" u="none" strike="noStrike" cap="none" baseline="300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TM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1835696" y="3952576"/>
            <a:ext cx="5886142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Calibri"/>
              <a:buNone/>
            </a:pPr>
            <a:r>
              <a:rPr lang="en-US" sz="2800" b="0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Introducing</a:t>
            </a:r>
            <a:r>
              <a:rPr lang="en-US" sz="2800" b="1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4" name="Google Shape;94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2400" y="152400"/>
            <a:ext cx="1440160" cy="9896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"/>
          <p:cNvSpPr txBox="1">
            <a:spLocks noGrp="1"/>
          </p:cNvSpPr>
          <p:nvPr>
            <p:ph type="body" idx="4294967295"/>
          </p:nvPr>
        </p:nvSpPr>
        <p:spPr>
          <a:xfrm>
            <a:off x="408562" y="152975"/>
            <a:ext cx="8496300" cy="6985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1440"/>
              <a:buNone/>
            </a:pPr>
            <a:endParaRPr sz="1600" b="1" dirty="0"/>
          </a:p>
          <a:p>
            <a:pPr marL="342900" lvl="0" indent="-342900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rgbClr val="990000"/>
              </a:buClr>
              <a:buSzPts val="1440"/>
              <a:buNone/>
            </a:pPr>
            <a:endParaRPr sz="1600" b="1" dirty="0"/>
          </a:p>
          <a:p>
            <a:pPr marL="342900" lvl="0" indent="-342900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rgbClr val="990000"/>
              </a:buClr>
              <a:buSzPts val="1440"/>
              <a:buNone/>
            </a:pPr>
            <a:endParaRPr sz="1600" b="1" dirty="0"/>
          </a:p>
          <a:p>
            <a:pPr marL="342900" lvl="0" indent="-342900" algn="ctr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rgbClr val="990000"/>
              </a:buClr>
              <a:buSzPts val="1440"/>
              <a:buNone/>
            </a:pPr>
            <a:endParaRPr sz="1600" b="1" u="sng" dirty="0"/>
          </a:p>
          <a:p>
            <a:pPr marL="342900" lvl="0" indent="-342900" algn="ctr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990000"/>
              </a:buClr>
              <a:buSzPts val="2520"/>
              <a:buNone/>
            </a:pPr>
            <a:endParaRPr b="1" u="sng" dirty="0"/>
          </a:p>
          <a:p>
            <a:pPr marL="342900" lvl="0" indent="-342900" algn="ctr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rgbClr val="990000"/>
              </a:buClr>
              <a:buSzPts val="1440"/>
              <a:buNone/>
            </a:pPr>
            <a:endParaRPr sz="1600" b="1" u="sng" dirty="0"/>
          </a:p>
          <a:p>
            <a:pPr marL="34290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90000"/>
              </a:buClr>
              <a:buSzPts val="1800"/>
              <a:buChar char="■"/>
            </a:pPr>
            <a:r>
              <a:rPr lang="en-US" sz="2000" dirty="0"/>
              <a:t>Rapid diagnostic tests (RDT) developer since 2005</a:t>
            </a:r>
            <a:endParaRPr sz="2000" dirty="0"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rgbClr val="990000"/>
              </a:buClr>
              <a:buSzPts val="1800"/>
              <a:buChar char="■"/>
            </a:pPr>
            <a:r>
              <a:rPr lang="en-US" sz="2000" dirty="0"/>
              <a:t>Multiple CE - marked products</a:t>
            </a:r>
            <a:endParaRPr sz="2000" dirty="0"/>
          </a:p>
          <a:p>
            <a:pPr marL="34290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90000"/>
              </a:buClr>
              <a:buSzPts val="1800"/>
              <a:buChar char="■"/>
            </a:pPr>
            <a:r>
              <a:rPr lang="en-US" sz="2000" dirty="0"/>
              <a:t>ISO 13845:2016 – certified </a:t>
            </a:r>
            <a:endParaRPr dirty="0"/>
          </a:p>
          <a:p>
            <a:pPr marL="34290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90000"/>
              </a:buClr>
              <a:buSzPts val="1800"/>
              <a:buChar char="■"/>
            </a:pPr>
            <a:r>
              <a:rPr lang="en-US" sz="2000" dirty="0"/>
              <a:t>ISO5 aseptic manufacturing space</a:t>
            </a:r>
            <a:endParaRPr dirty="0"/>
          </a:p>
          <a:p>
            <a:pPr marL="34290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90000"/>
              </a:buClr>
              <a:buSzPts val="1800"/>
              <a:buChar char="■"/>
            </a:pPr>
            <a:r>
              <a:rPr lang="en-US" sz="2000" dirty="0"/>
              <a:t>Based in Israel</a:t>
            </a:r>
            <a:endParaRPr sz="2000" dirty="0"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rgbClr val="990000"/>
              </a:buClr>
              <a:buSzPts val="1800"/>
              <a:buChar char="■"/>
            </a:pPr>
            <a:r>
              <a:rPr lang="en-US" sz="2000" dirty="0"/>
              <a:t>Privately owned company</a:t>
            </a:r>
            <a:endParaRPr sz="2000" dirty="0"/>
          </a:p>
          <a:p>
            <a:pPr marL="457200" lvl="0" indent="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sz="2000" dirty="0"/>
          </a:p>
          <a:p>
            <a:pPr marL="342900" lvl="0" indent="-251459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rgbClr val="990000"/>
              </a:buClr>
              <a:buSzPts val="1440"/>
              <a:buNone/>
            </a:pPr>
            <a:endParaRPr sz="1600" b="1" dirty="0"/>
          </a:p>
          <a:p>
            <a:pPr marL="342900" lvl="0" indent="-342900" algn="ctr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990000"/>
              </a:buClr>
              <a:buSzPts val="2520"/>
              <a:buNone/>
            </a:pPr>
            <a:r>
              <a:rPr lang="en-US" b="1" dirty="0"/>
              <a:t>Our Vision</a:t>
            </a:r>
            <a:endParaRPr dirty="0"/>
          </a:p>
          <a:p>
            <a:pPr marL="342900" lvl="0" indent="-342900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rgbClr val="990000"/>
              </a:buClr>
              <a:buSzPts val="1440"/>
              <a:buNone/>
            </a:pPr>
            <a:endParaRPr sz="1600" b="1" dirty="0"/>
          </a:p>
          <a:p>
            <a:pPr marL="342900" lvl="0" indent="-34290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90000"/>
              </a:buClr>
              <a:buSzPts val="1800"/>
              <a:buNone/>
            </a:pPr>
            <a:r>
              <a:rPr lang="en-US" sz="1800" b="1" dirty="0">
                <a:solidFill>
                  <a:srgbClr val="070707"/>
                </a:solidFill>
                <a:latin typeface="Arial" panose="020B0604020202020204" pitchFamily="34" charset="0"/>
              </a:rPr>
              <a:t>Smart, innovative and convenient RDT solution. </a:t>
            </a:r>
          </a:p>
          <a:p>
            <a:pPr marL="342900" lvl="0" indent="-34290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90000"/>
              </a:buClr>
              <a:buSzPts val="1800"/>
              <a:buNone/>
            </a:pPr>
            <a:r>
              <a:rPr lang="en-US" sz="1800" b="1" dirty="0">
                <a:solidFill>
                  <a:srgbClr val="070707"/>
                </a:solidFill>
                <a:latin typeface="Arial" panose="020B0604020202020204" pitchFamily="34" charset="0"/>
              </a:rPr>
              <a:t>S</a:t>
            </a:r>
            <a:r>
              <a:rPr lang="en-IL" sz="1800" b="1" dirty="0" err="1">
                <a:solidFill>
                  <a:srgbClr val="070707"/>
                </a:solidFill>
                <a:latin typeface="Arial" panose="020B0604020202020204" pitchFamily="34" charset="0"/>
              </a:rPr>
              <a:t>hift</a:t>
            </a:r>
            <a:r>
              <a:rPr lang="en-US" sz="1800" b="1" dirty="0" err="1">
                <a:solidFill>
                  <a:srgbClr val="070707"/>
                </a:solidFill>
                <a:latin typeface="Arial" panose="020B0604020202020204" pitchFamily="34" charset="0"/>
              </a:rPr>
              <a:t>ing</a:t>
            </a:r>
            <a:r>
              <a:rPr lang="en-US" sz="1800" b="1" dirty="0">
                <a:solidFill>
                  <a:srgbClr val="070707"/>
                </a:solidFill>
                <a:latin typeface="Arial" panose="020B0604020202020204" pitchFamily="34" charset="0"/>
              </a:rPr>
              <a:t> </a:t>
            </a:r>
            <a:r>
              <a:rPr lang="en-IL" sz="1800" b="1" dirty="0">
                <a:solidFill>
                  <a:srgbClr val="070707"/>
                </a:solidFill>
                <a:latin typeface="Arial" panose="020B0604020202020204" pitchFamily="34" charset="0"/>
              </a:rPr>
              <a:t>patient </a:t>
            </a:r>
            <a:r>
              <a:rPr lang="en-US" sz="1800" b="1" dirty="0">
                <a:solidFill>
                  <a:srgbClr val="070707"/>
                </a:solidFill>
                <a:latin typeface="Arial" panose="020B0604020202020204" pitchFamily="34" charset="0"/>
              </a:rPr>
              <a:t>testing</a:t>
            </a:r>
            <a:r>
              <a:rPr lang="en-IL" sz="1800" b="1" dirty="0">
                <a:solidFill>
                  <a:srgbClr val="070707"/>
                </a:solidFill>
                <a:latin typeface="Arial" panose="020B0604020202020204" pitchFamily="34" charset="0"/>
              </a:rPr>
              <a:t> from centralized labs to point-of-care</a:t>
            </a:r>
            <a:r>
              <a:rPr lang="en-US" sz="1800" b="1" dirty="0">
                <a:solidFill>
                  <a:srgbClr val="070707"/>
                </a:solidFill>
                <a:latin typeface="Arial" panose="020B0604020202020204" pitchFamily="34" charset="0"/>
              </a:rPr>
              <a:t> and self-use</a:t>
            </a:r>
            <a:r>
              <a:rPr lang="en-IL" sz="1800" b="1" dirty="0">
                <a:solidFill>
                  <a:srgbClr val="070707"/>
                </a:solidFill>
                <a:latin typeface="Arial" panose="020B0604020202020204" pitchFamily="34" charset="0"/>
              </a:rPr>
              <a:t>, </a:t>
            </a:r>
            <a:r>
              <a:rPr lang="en-US" sz="1800" b="1" dirty="0">
                <a:solidFill>
                  <a:srgbClr val="070707"/>
                </a:solidFill>
                <a:latin typeface="Arial" panose="020B0604020202020204" pitchFamily="34" charset="0"/>
              </a:rPr>
              <a:t>thereby improving healthcare provision</a:t>
            </a:r>
            <a:r>
              <a:rPr lang="en-US" sz="1800" b="1" dirty="0">
                <a:solidFill>
                  <a:srgbClr val="070707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.</a:t>
            </a:r>
            <a:endParaRPr sz="1600" b="1" dirty="0"/>
          </a:p>
        </p:txBody>
      </p:sp>
      <p:sp>
        <p:nvSpPr>
          <p:cNvPr id="100" name="Google Shape;100;p2"/>
          <p:cNvSpPr/>
          <p:nvPr/>
        </p:nvSpPr>
        <p:spPr>
          <a:xfrm>
            <a:off x="2987824" y="357188"/>
            <a:ext cx="5798989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endParaRPr sz="3000" b="1" i="1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1" name="Google Shape;101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152400"/>
            <a:ext cx="1440160" cy="98967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36;p7">
            <a:extLst>
              <a:ext uri="{FF2B5EF4-FFF2-40B4-BE49-F238E27FC236}">
                <a16:creationId xmlns:a16="http://schemas.microsoft.com/office/drawing/2014/main" id="{795BA00D-6AC0-BEF9-3A02-A2E95B45D546}"/>
              </a:ext>
            </a:extLst>
          </p:cNvPr>
          <p:cNvSpPr/>
          <p:nvPr/>
        </p:nvSpPr>
        <p:spPr>
          <a:xfrm>
            <a:off x="1592549" y="954855"/>
            <a:ext cx="62454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Calibri"/>
              <a:buNone/>
            </a:pPr>
            <a:r>
              <a:rPr lang="en-US" sz="3200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About Us</a:t>
            </a:r>
            <a:endParaRPr lang="en-US" sz="3200" b="0" i="0" u="none" strike="noStrike" cap="none" dirty="0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14;g197a48c9685_1_0">
            <a:extLst>
              <a:ext uri="{FF2B5EF4-FFF2-40B4-BE49-F238E27FC236}">
                <a16:creationId xmlns:a16="http://schemas.microsoft.com/office/drawing/2014/main" id="{3A8002B4-EA24-96ED-4479-C912C42B8711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637825" y="1165825"/>
            <a:ext cx="5495925" cy="5200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115;g197a48c9685_1_0">
            <a:extLst>
              <a:ext uri="{FF2B5EF4-FFF2-40B4-BE49-F238E27FC236}">
                <a16:creationId xmlns:a16="http://schemas.microsoft.com/office/drawing/2014/main" id="{8A2C9E0F-6B1B-A541-1E85-B6A03A9577A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152400"/>
            <a:ext cx="1440160" cy="989673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16;g197a48c9685_1_0">
            <a:extLst>
              <a:ext uri="{FF2B5EF4-FFF2-40B4-BE49-F238E27FC236}">
                <a16:creationId xmlns:a16="http://schemas.microsoft.com/office/drawing/2014/main" id="{2FA3A500-4863-E874-A7A1-2070438500F2}"/>
              </a:ext>
            </a:extLst>
          </p:cNvPr>
          <p:cNvSpPr txBox="1"/>
          <p:nvPr/>
        </p:nvSpPr>
        <p:spPr>
          <a:xfrm>
            <a:off x="2776525" y="638088"/>
            <a:ext cx="30000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42900" lvl="0" indent="-342900" algn="ctr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rPr lang="en-US" sz="21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Product Catalog 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397553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FF53B6E-0B3E-98AD-6962-4D2ED8833E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8140" y="1889979"/>
            <a:ext cx="7493977" cy="4732398"/>
          </a:xfrm>
          <a:prstGeom prst="rect">
            <a:avLst/>
          </a:prstGeom>
        </p:spPr>
      </p:pic>
      <p:sp>
        <p:nvSpPr>
          <p:cNvPr id="3" name="Google Shape;200;p11">
            <a:extLst>
              <a:ext uri="{FF2B5EF4-FFF2-40B4-BE49-F238E27FC236}">
                <a16:creationId xmlns:a16="http://schemas.microsoft.com/office/drawing/2014/main" id="{0A381E11-97F8-25E7-56E0-42A1B9E10B8D}"/>
              </a:ext>
            </a:extLst>
          </p:cNvPr>
          <p:cNvSpPr/>
          <p:nvPr/>
        </p:nvSpPr>
        <p:spPr>
          <a:xfrm>
            <a:off x="1547664" y="1116656"/>
            <a:ext cx="6245485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Calibri"/>
              <a:buNone/>
            </a:pPr>
            <a:r>
              <a:rPr lang="en-US" sz="3200" b="0" i="0" u="none" strike="noStrike" cap="none" dirty="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3200" b="0" i="0" u="none" strike="noStrike" cap="none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Experienced Management Team</a:t>
            </a:r>
            <a:endParaRPr sz="3200" b="0" i="0" u="none" strike="noStrike" cap="none" dirty="0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Google Shape;201;p11">
            <a:extLst>
              <a:ext uri="{FF2B5EF4-FFF2-40B4-BE49-F238E27FC236}">
                <a16:creationId xmlns:a16="http://schemas.microsoft.com/office/drawing/2014/main" id="{16C1A40F-2757-BFC1-424F-ABC9E6DB710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400" y="152400"/>
            <a:ext cx="1440160" cy="9896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6">
            <a:extLst>
              <a:ext uri="{FF2B5EF4-FFF2-40B4-BE49-F238E27FC236}">
                <a16:creationId xmlns:a16="http://schemas.microsoft.com/office/drawing/2014/main" id="{EC03B27C-A150-4B18-0468-0BA19C270878}"/>
              </a:ext>
            </a:extLst>
          </p:cNvPr>
          <p:cNvSpPr txBox="1">
            <a:spLocks/>
          </p:cNvSpPr>
          <p:nvPr/>
        </p:nvSpPr>
        <p:spPr>
          <a:xfrm>
            <a:off x="647700" y="173038"/>
            <a:ext cx="8496300" cy="67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342900" indent="-342900">
              <a:spcBef>
                <a:spcPts val="0"/>
              </a:spcBef>
              <a:buClr>
                <a:srgbClr val="990000"/>
              </a:buClr>
              <a:buSzPts val="1440"/>
              <a:buFont typeface="Arial"/>
              <a:buNone/>
            </a:pPr>
            <a:endParaRPr lang="en-US" sz="1600" b="1"/>
          </a:p>
          <a:p>
            <a:pPr marL="342900" indent="-342900">
              <a:spcBef>
                <a:spcPts val="320"/>
              </a:spcBef>
              <a:buClr>
                <a:srgbClr val="990000"/>
              </a:buClr>
              <a:buSzPts val="1440"/>
              <a:buFont typeface="Arial"/>
              <a:buNone/>
            </a:pPr>
            <a:r>
              <a:rPr lang="en-US" sz="1600" b="1" i="1" baseline="30000">
                <a:solidFill>
                  <a:srgbClr val="002060"/>
                </a:solidFill>
              </a:rPr>
              <a:t>TM</a:t>
            </a:r>
            <a:endParaRPr lang="en-US" sz="1600" b="1"/>
          </a:p>
          <a:p>
            <a:pPr marL="342900" indent="-342900">
              <a:spcBef>
                <a:spcPts val="320"/>
              </a:spcBef>
              <a:buClr>
                <a:srgbClr val="990000"/>
              </a:buClr>
              <a:buSzPts val="1440"/>
              <a:buFont typeface="Arial"/>
              <a:buNone/>
            </a:pPr>
            <a:endParaRPr lang="en-US" sz="1600" b="1"/>
          </a:p>
          <a:p>
            <a:pPr marL="342900" indent="-342900">
              <a:spcBef>
                <a:spcPts val="320"/>
              </a:spcBef>
              <a:buClr>
                <a:srgbClr val="990000"/>
              </a:buClr>
              <a:buSzPts val="1440"/>
              <a:buFont typeface="Arial"/>
              <a:buNone/>
            </a:pPr>
            <a:endParaRPr lang="en-US" sz="1600" b="1"/>
          </a:p>
          <a:p>
            <a:pPr marL="342900" indent="-342900">
              <a:spcBef>
                <a:spcPts val="320"/>
              </a:spcBef>
              <a:buClr>
                <a:srgbClr val="990000"/>
              </a:buClr>
              <a:buSzPts val="1440"/>
              <a:buFont typeface="Arial"/>
              <a:buNone/>
            </a:pPr>
            <a:endParaRPr lang="en-US" sz="1600" b="1"/>
          </a:p>
          <a:p>
            <a:pPr marL="0" indent="0">
              <a:spcBef>
                <a:spcPts val="320"/>
              </a:spcBef>
              <a:buClr>
                <a:srgbClr val="990000"/>
              </a:buClr>
              <a:buSzPts val="1440"/>
              <a:buFont typeface="Arial"/>
              <a:buNone/>
            </a:pPr>
            <a:endParaRPr lang="en-US" sz="1600" b="1" u="sng">
              <a:solidFill>
                <a:srgbClr val="000000"/>
              </a:solidFill>
            </a:endParaRPr>
          </a:p>
          <a:p>
            <a:pPr marL="0" indent="0">
              <a:spcBef>
                <a:spcPts val="220"/>
              </a:spcBef>
              <a:buClr>
                <a:srgbClr val="990000"/>
              </a:buClr>
              <a:buSzPts val="990"/>
              <a:buFont typeface="Arial"/>
              <a:buNone/>
            </a:pPr>
            <a:endParaRPr lang="en-US" sz="1100"/>
          </a:p>
          <a:p>
            <a:pPr marL="0" indent="0">
              <a:spcBef>
                <a:spcPts val="360"/>
              </a:spcBef>
              <a:buClr>
                <a:srgbClr val="990000"/>
              </a:buClr>
              <a:buSzPts val="1620"/>
              <a:buFont typeface="Arial"/>
              <a:buNone/>
            </a:pPr>
            <a:endParaRPr lang="en-US" sz="1800" b="1"/>
          </a:p>
          <a:p>
            <a:pPr marL="0" indent="0">
              <a:spcBef>
                <a:spcPts val="360"/>
              </a:spcBef>
              <a:buClr>
                <a:srgbClr val="990000"/>
              </a:buClr>
              <a:buSzPts val="1620"/>
              <a:buFont typeface="Arial"/>
              <a:buNone/>
            </a:pPr>
            <a:endParaRPr lang="en-US" sz="1800" b="1"/>
          </a:p>
          <a:p>
            <a:pPr marL="0" indent="0">
              <a:spcBef>
                <a:spcPts val="360"/>
              </a:spcBef>
              <a:buClr>
                <a:srgbClr val="990000"/>
              </a:buClr>
              <a:buSzPts val="1620"/>
              <a:buFont typeface="Arial"/>
              <a:buNone/>
            </a:pPr>
            <a:endParaRPr lang="en-US" sz="1800" b="1"/>
          </a:p>
          <a:p>
            <a:pPr marL="0" indent="0">
              <a:spcBef>
                <a:spcPts val="360"/>
              </a:spcBef>
              <a:buClr>
                <a:srgbClr val="990000"/>
              </a:buClr>
              <a:buSzPts val="1620"/>
              <a:buFont typeface="Arial"/>
              <a:buNone/>
            </a:pPr>
            <a:endParaRPr lang="en-US" sz="1800" b="1"/>
          </a:p>
          <a:p>
            <a:pPr marL="0" indent="0">
              <a:spcBef>
                <a:spcPts val="360"/>
              </a:spcBef>
              <a:buClr>
                <a:srgbClr val="990000"/>
              </a:buClr>
              <a:buSzPts val="1620"/>
              <a:buFont typeface="Arial"/>
              <a:buNone/>
            </a:pPr>
            <a:r>
              <a:rPr lang="en-US" sz="1800" b="1"/>
              <a:t>Main Advantages:</a:t>
            </a:r>
            <a:endParaRPr lang="en-US"/>
          </a:p>
          <a:p>
            <a:pPr marL="342900" indent="-342900">
              <a:spcBef>
                <a:spcPts val="320"/>
              </a:spcBef>
              <a:buClr>
                <a:srgbClr val="990000"/>
              </a:buClr>
              <a:buSzPts val="1440"/>
              <a:buFont typeface="Arial"/>
              <a:buChar char="■"/>
            </a:pPr>
            <a:r>
              <a:rPr lang="en-US" sz="1600"/>
              <a:t>Proprietary swab for improved sample collection and higher pathogen recovery efficacies</a:t>
            </a:r>
            <a:endParaRPr lang="en-US"/>
          </a:p>
          <a:p>
            <a:pPr marL="342900" indent="-342900">
              <a:spcBef>
                <a:spcPts val="320"/>
              </a:spcBef>
              <a:buClr>
                <a:srgbClr val="990000"/>
              </a:buClr>
              <a:buSzPts val="1440"/>
              <a:buFont typeface="Arial"/>
              <a:buChar char="■"/>
            </a:pPr>
            <a:r>
              <a:rPr lang="en-US" sz="1600"/>
              <a:t>No Step operation</a:t>
            </a:r>
            <a:endParaRPr lang="en-US"/>
          </a:p>
          <a:p>
            <a:pPr marL="342900" indent="-342900">
              <a:spcBef>
                <a:spcPts val="320"/>
              </a:spcBef>
              <a:buClr>
                <a:srgbClr val="990000"/>
              </a:buClr>
              <a:buSzPts val="1440"/>
              <a:buFont typeface="Arial"/>
              <a:buChar char="■"/>
            </a:pPr>
            <a:r>
              <a:rPr lang="en-US" sz="1600"/>
              <a:t>Improved usability by untrained healthcare providers</a:t>
            </a:r>
            <a:endParaRPr lang="en-US"/>
          </a:p>
          <a:p>
            <a:pPr marL="342900" indent="-342900">
              <a:spcBef>
                <a:spcPts val="320"/>
              </a:spcBef>
              <a:buClr>
                <a:srgbClr val="990000"/>
              </a:buClr>
              <a:buSzPts val="1440"/>
              <a:buFont typeface="Arial"/>
              <a:buChar char="■"/>
            </a:pPr>
            <a:r>
              <a:rPr lang="en-US" sz="1600"/>
              <a:t>Results available during in-patient visit</a:t>
            </a:r>
            <a:endParaRPr lang="en-US"/>
          </a:p>
          <a:p>
            <a:pPr marL="342900" indent="-342900">
              <a:spcBef>
                <a:spcPts val="320"/>
              </a:spcBef>
              <a:buClr>
                <a:srgbClr val="990000"/>
              </a:buClr>
              <a:buSzPts val="1440"/>
              <a:buFont typeface="Arial"/>
              <a:buChar char="■"/>
            </a:pPr>
            <a:r>
              <a:rPr lang="en-US" sz="1600"/>
              <a:t>Enhanced accuracy</a:t>
            </a:r>
            <a:endParaRPr lang="en-US"/>
          </a:p>
          <a:p>
            <a:pPr marL="342900" indent="-342900">
              <a:spcBef>
                <a:spcPts val="320"/>
              </a:spcBef>
              <a:buClr>
                <a:srgbClr val="990000"/>
              </a:buClr>
              <a:buSzPts val="1440"/>
              <a:buFont typeface="Arial"/>
              <a:buChar char="■"/>
            </a:pPr>
            <a:r>
              <a:rPr lang="en-US" sz="1600"/>
              <a:t>Minimal liquid and plastic waste disposal</a:t>
            </a:r>
            <a:endParaRPr lang="en-US"/>
          </a:p>
          <a:p>
            <a:pPr marL="0" indent="0">
              <a:spcBef>
                <a:spcPts val="320"/>
              </a:spcBef>
              <a:buClr>
                <a:srgbClr val="990000"/>
              </a:buClr>
              <a:buSzPts val="1440"/>
              <a:buFont typeface="Arial"/>
              <a:buNone/>
            </a:pPr>
            <a:endParaRPr lang="en-US" sz="1600" b="1"/>
          </a:p>
          <a:p>
            <a:pPr marL="0" indent="0">
              <a:spcBef>
                <a:spcPts val="320"/>
              </a:spcBef>
              <a:buClr>
                <a:srgbClr val="990000"/>
              </a:buClr>
              <a:buSzPts val="1440"/>
              <a:buFont typeface="Arial"/>
              <a:buNone/>
            </a:pPr>
            <a:endParaRPr lang="en-US" sz="1600" b="1"/>
          </a:p>
          <a:p>
            <a:pPr marL="342900" indent="-342900">
              <a:spcBef>
                <a:spcPts val="320"/>
              </a:spcBef>
              <a:buClr>
                <a:srgbClr val="990000"/>
              </a:buClr>
              <a:buSzPts val="1440"/>
              <a:buFont typeface="Arial"/>
              <a:buNone/>
            </a:pPr>
            <a:endParaRPr lang="en-US" sz="1600" b="1"/>
          </a:p>
          <a:p>
            <a:pPr marL="342900" indent="-342900">
              <a:spcBef>
                <a:spcPts val="320"/>
              </a:spcBef>
              <a:buClr>
                <a:srgbClr val="990000"/>
              </a:buClr>
              <a:buSzPts val="1440"/>
              <a:buFont typeface="Arial"/>
              <a:buNone/>
            </a:pPr>
            <a:endParaRPr lang="en-US" sz="1600" b="1"/>
          </a:p>
          <a:p>
            <a:pPr marL="342900" indent="-342900">
              <a:spcBef>
                <a:spcPts val="320"/>
              </a:spcBef>
              <a:buClr>
                <a:srgbClr val="990000"/>
              </a:buClr>
              <a:buSzPts val="1440"/>
              <a:buFont typeface="Arial"/>
              <a:buNone/>
            </a:pPr>
            <a:r>
              <a:rPr lang="en-US" sz="1600" b="1"/>
              <a:t>                                                                                                  </a:t>
            </a:r>
            <a:endParaRPr lang="en-US"/>
          </a:p>
          <a:p>
            <a:pPr marL="342900" indent="-342900">
              <a:spcBef>
                <a:spcPts val="320"/>
              </a:spcBef>
              <a:buClr>
                <a:srgbClr val="990000"/>
              </a:buClr>
              <a:buSzPts val="1440"/>
              <a:buFont typeface="Arial"/>
              <a:buNone/>
            </a:pPr>
            <a:endParaRPr lang="en-US" sz="1600" b="1" dirty="0"/>
          </a:p>
        </p:txBody>
      </p:sp>
      <p:pic>
        <p:nvPicPr>
          <p:cNvPr id="3" name="Google Shape;137;p6">
            <a:extLst>
              <a:ext uri="{FF2B5EF4-FFF2-40B4-BE49-F238E27FC236}">
                <a16:creationId xmlns:a16="http://schemas.microsoft.com/office/drawing/2014/main" id="{98CB6516-F79D-D15E-6427-7C7A3DAF855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2400" y="152400"/>
            <a:ext cx="1440160" cy="989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138;p6">
            <a:extLst>
              <a:ext uri="{FF2B5EF4-FFF2-40B4-BE49-F238E27FC236}">
                <a16:creationId xmlns:a16="http://schemas.microsoft.com/office/drawing/2014/main" id="{02DB45FB-095A-7378-63A5-239E5E8F95D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31368" y="1712028"/>
            <a:ext cx="5040561" cy="980952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39;p6">
            <a:extLst>
              <a:ext uri="{FF2B5EF4-FFF2-40B4-BE49-F238E27FC236}">
                <a16:creationId xmlns:a16="http://schemas.microsoft.com/office/drawing/2014/main" id="{302D05FB-BB9B-352D-FA11-CB771BBB461F}"/>
              </a:ext>
            </a:extLst>
          </p:cNvPr>
          <p:cNvSpPr/>
          <p:nvPr/>
        </p:nvSpPr>
        <p:spPr>
          <a:xfrm>
            <a:off x="4187550" y="768129"/>
            <a:ext cx="4409798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2900"/>
              <a:buFont typeface="Calibri"/>
              <a:buNone/>
            </a:pPr>
            <a:r>
              <a:rPr lang="en-US" sz="2900" b="0" i="0" u="none" strike="noStrike" cap="none" dirty="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Swab-based Test  Platform</a:t>
            </a:r>
            <a:endParaRPr sz="2900" b="0" i="0" u="none" strike="noStrike" cap="none" dirty="0">
              <a:solidFill>
                <a:srgbClr val="00B0F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" name="Google Shape;140;p6">
            <a:extLst>
              <a:ext uri="{FF2B5EF4-FFF2-40B4-BE49-F238E27FC236}">
                <a16:creationId xmlns:a16="http://schemas.microsoft.com/office/drawing/2014/main" id="{AABE2972-3C53-05CA-AD8D-FE4D7BE076C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20676" y="680431"/>
            <a:ext cx="2427051" cy="5022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256181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5;p5">
            <a:extLst>
              <a:ext uri="{FF2B5EF4-FFF2-40B4-BE49-F238E27FC236}">
                <a16:creationId xmlns:a16="http://schemas.microsoft.com/office/drawing/2014/main" id="{A9CCB7DD-92D8-09E5-E8FC-880B06C3A95A}"/>
              </a:ext>
            </a:extLst>
          </p:cNvPr>
          <p:cNvSpPr txBox="1">
            <a:spLocks/>
          </p:cNvSpPr>
          <p:nvPr/>
        </p:nvSpPr>
        <p:spPr>
          <a:xfrm>
            <a:off x="647700" y="935038"/>
            <a:ext cx="8496300" cy="67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342900" indent="-342900">
              <a:spcBef>
                <a:spcPts val="0"/>
              </a:spcBef>
              <a:buClr>
                <a:srgbClr val="990000"/>
              </a:buClr>
              <a:buSzPts val="1440"/>
              <a:buFont typeface="Arial"/>
              <a:buNone/>
            </a:pPr>
            <a:endParaRPr lang="en-US" sz="1600" b="1" dirty="0"/>
          </a:p>
          <a:p>
            <a:pPr marL="342900" indent="-342900">
              <a:spcBef>
                <a:spcPts val="320"/>
              </a:spcBef>
              <a:buClr>
                <a:srgbClr val="990000"/>
              </a:buClr>
              <a:buSzPts val="1440"/>
              <a:buFont typeface="Arial"/>
              <a:buNone/>
            </a:pPr>
            <a:r>
              <a:rPr lang="en-US" sz="1600" b="1" i="1" baseline="30000" dirty="0">
                <a:solidFill>
                  <a:srgbClr val="002060"/>
                </a:solidFill>
              </a:rPr>
              <a:t>TM</a:t>
            </a:r>
            <a:endParaRPr lang="en-US" sz="1600" b="1" dirty="0"/>
          </a:p>
          <a:p>
            <a:pPr marL="342900" indent="-342900">
              <a:spcBef>
                <a:spcPts val="320"/>
              </a:spcBef>
              <a:buClr>
                <a:srgbClr val="990000"/>
              </a:buClr>
              <a:buSzPts val="1440"/>
              <a:buFont typeface="Arial"/>
              <a:buNone/>
            </a:pPr>
            <a:endParaRPr lang="en-US" sz="1600" b="1" dirty="0"/>
          </a:p>
          <a:p>
            <a:pPr marL="342900" indent="-342900">
              <a:spcBef>
                <a:spcPts val="320"/>
              </a:spcBef>
              <a:buClr>
                <a:srgbClr val="990000"/>
              </a:buClr>
              <a:buSzPts val="1440"/>
              <a:buFont typeface="Arial"/>
              <a:buNone/>
            </a:pPr>
            <a:endParaRPr lang="en-US" sz="1600" b="1" dirty="0"/>
          </a:p>
          <a:p>
            <a:pPr marL="342900" indent="-342900">
              <a:spcBef>
                <a:spcPts val="320"/>
              </a:spcBef>
              <a:buClr>
                <a:srgbClr val="990000"/>
              </a:buClr>
              <a:buSzPts val="1440"/>
              <a:buFont typeface="Arial"/>
              <a:buNone/>
            </a:pPr>
            <a:endParaRPr lang="en-US" sz="1600" b="1" dirty="0"/>
          </a:p>
          <a:p>
            <a:pPr marL="0" indent="0">
              <a:spcBef>
                <a:spcPts val="320"/>
              </a:spcBef>
              <a:buClr>
                <a:srgbClr val="990000"/>
              </a:buClr>
              <a:buSzPts val="1440"/>
              <a:buFont typeface="Arial"/>
              <a:buNone/>
            </a:pPr>
            <a:endParaRPr lang="en-US" sz="1600" b="1" u="sng" dirty="0">
              <a:solidFill>
                <a:srgbClr val="000000"/>
              </a:solidFill>
            </a:endParaRPr>
          </a:p>
          <a:p>
            <a:pPr marL="0" indent="0">
              <a:spcBef>
                <a:spcPts val="220"/>
              </a:spcBef>
              <a:buClr>
                <a:srgbClr val="990000"/>
              </a:buClr>
              <a:buSzPts val="990"/>
              <a:buFont typeface="Arial"/>
              <a:buNone/>
            </a:pPr>
            <a:endParaRPr lang="en-US" sz="1100" dirty="0"/>
          </a:p>
          <a:p>
            <a:pPr marL="0" indent="0">
              <a:spcBef>
                <a:spcPts val="220"/>
              </a:spcBef>
              <a:buClr>
                <a:srgbClr val="990000"/>
              </a:buClr>
              <a:buSzPts val="990"/>
              <a:buFont typeface="Arial"/>
              <a:buNone/>
            </a:pPr>
            <a:endParaRPr lang="en-US" sz="1100" dirty="0"/>
          </a:p>
          <a:p>
            <a:pPr marL="0" indent="0">
              <a:spcBef>
                <a:spcPts val="220"/>
              </a:spcBef>
              <a:buClr>
                <a:srgbClr val="990000"/>
              </a:buClr>
              <a:buSzPts val="990"/>
              <a:buFont typeface="Arial"/>
              <a:buNone/>
            </a:pPr>
            <a:endParaRPr lang="en-US" sz="1100" dirty="0"/>
          </a:p>
          <a:p>
            <a:pPr marL="0" indent="0">
              <a:spcBef>
                <a:spcPts val="220"/>
              </a:spcBef>
              <a:buClr>
                <a:srgbClr val="990000"/>
              </a:buClr>
              <a:buSzPts val="990"/>
              <a:buFont typeface="Arial"/>
              <a:buNone/>
            </a:pPr>
            <a:endParaRPr lang="en-US" sz="1100" dirty="0"/>
          </a:p>
          <a:p>
            <a:pPr marL="0" indent="0">
              <a:spcBef>
                <a:spcPts val="360"/>
              </a:spcBef>
              <a:buClr>
                <a:srgbClr val="990000"/>
              </a:buClr>
              <a:buSzPts val="1620"/>
              <a:buFont typeface="Arial"/>
              <a:buNone/>
            </a:pPr>
            <a:r>
              <a:rPr lang="en-US" sz="1800" b="1" dirty="0">
                <a:solidFill>
                  <a:srgbClr val="000000"/>
                </a:solidFill>
              </a:rPr>
              <a:t>Proprietary, Innovative Platform for Multiple Swab-Based Rapid Diagnostic Indications:</a:t>
            </a:r>
            <a:endParaRPr lang="en-US" sz="1800" b="1" dirty="0"/>
          </a:p>
          <a:p>
            <a:pPr marL="342900" indent="-342900">
              <a:spcBef>
                <a:spcPts val="320"/>
              </a:spcBef>
              <a:buClr>
                <a:srgbClr val="990000"/>
              </a:buClr>
              <a:buSzPts val="1440"/>
              <a:buFont typeface="Arial"/>
              <a:buChar char="■"/>
            </a:pPr>
            <a:r>
              <a:rPr lang="en-US" sz="1600" dirty="0">
                <a:solidFill>
                  <a:srgbClr val="00B0F0"/>
                </a:solidFill>
              </a:rPr>
              <a:t>Streptococcus A</a:t>
            </a:r>
          </a:p>
          <a:p>
            <a:pPr marL="342900" indent="-342900">
              <a:spcBef>
                <a:spcPts val="320"/>
              </a:spcBef>
              <a:buClr>
                <a:srgbClr val="990000"/>
              </a:buClr>
              <a:buSzPts val="1440"/>
              <a:buFont typeface="Arial"/>
              <a:buChar char="■"/>
            </a:pPr>
            <a:r>
              <a:rPr lang="en-US" sz="1600" dirty="0">
                <a:solidFill>
                  <a:srgbClr val="00B0F0"/>
                </a:solidFill>
              </a:rPr>
              <a:t>COVID-19 Antigen</a:t>
            </a:r>
            <a:endParaRPr lang="en-US" dirty="0"/>
          </a:p>
          <a:p>
            <a:pPr marL="342900" indent="-342900">
              <a:spcBef>
                <a:spcPts val="320"/>
              </a:spcBef>
              <a:buClr>
                <a:srgbClr val="990000"/>
              </a:buClr>
              <a:buSzPts val="1440"/>
              <a:buFont typeface="Arial"/>
              <a:buChar char="■"/>
            </a:pPr>
            <a:r>
              <a:rPr lang="en-US" sz="1600" dirty="0">
                <a:solidFill>
                  <a:srgbClr val="00B0F0"/>
                </a:solidFill>
              </a:rPr>
              <a:t>Influenza A+B</a:t>
            </a:r>
          </a:p>
          <a:p>
            <a:pPr marL="342900" indent="-342900">
              <a:spcBef>
                <a:spcPts val="320"/>
              </a:spcBef>
              <a:buClr>
                <a:srgbClr val="990000"/>
              </a:buClr>
              <a:buSzPts val="1440"/>
              <a:buFont typeface="Arial"/>
              <a:buChar char="■"/>
            </a:pPr>
            <a:r>
              <a:rPr lang="en-US" sz="1600" dirty="0">
                <a:solidFill>
                  <a:srgbClr val="00B0F0"/>
                </a:solidFill>
              </a:rPr>
              <a:t>Streptococcus B</a:t>
            </a:r>
            <a:r>
              <a:rPr lang="en-US" sz="1600" dirty="0"/>
              <a:t> </a:t>
            </a:r>
            <a:endParaRPr lang="en-US" dirty="0"/>
          </a:p>
          <a:p>
            <a:pPr marL="342900" indent="-342900">
              <a:spcBef>
                <a:spcPts val="320"/>
              </a:spcBef>
              <a:buClr>
                <a:srgbClr val="990000"/>
              </a:buClr>
              <a:buSzPts val="1440"/>
              <a:buFont typeface="Arial"/>
              <a:buChar char="■"/>
            </a:pPr>
            <a:r>
              <a:rPr lang="en-US" sz="1600" dirty="0"/>
              <a:t>Multiple additional indications such as different Combos Candida Chlamydia and more</a:t>
            </a:r>
            <a:endParaRPr lang="en-US" dirty="0"/>
          </a:p>
          <a:p>
            <a:pPr marL="342900" indent="-342900">
              <a:spcBef>
                <a:spcPts val="320"/>
              </a:spcBef>
              <a:buClr>
                <a:schemeClr val="accent2"/>
              </a:buClr>
              <a:buSzPts val="1440"/>
              <a:buFont typeface="Arial"/>
              <a:buChar char="■"/>
            </a:pPr>
            <a:r>
              <a:rPr lang="en-US" sz="1600" b="1" u="sng" dirty="0">
                <a:solidFill>
                  <a:schemeClr val="accent2"/>
                </a:solidFill>
              </a:rPr>
              <a:t>Patents granted in the USA, EU, Japan, China &amp; Israel</a:t>
            </a:r>
            <a:r>
              <a:rPr lang="en-US" sz="1600" b="1" dirty="0">
                <a:solidFill>
                  <a:schemeClr val="accent2"/>
                </a:solidFill>
              </a:rPr>
              <a:t>, </a:t>
            </a:r>
            <a:endParaRPr lang="en-US" b="1" dirty="0">
              <a:solidFill>
                <a:schemeClr val="accent2"/>
              </a:solidFill>
            </a:endParaRPr>
          </a:p>
          <a:p>
            <a:pPr marL="354013" indent="-354013">
              <a:spcBef>
                <a:spcPts val="320"/>
              </a:spcBef>
              <a:buClr>
                <a:srgbClr val="990000"/>
              </a:buClr>
              <a:buSzPts val="1440"/>
              <a:buFont typeface="Arial"/>
              <a:buNone/>
            </a:pPr>
            <a:r>
              <a:rPr lang="en-US" sz="1600" b="1" dirty="0">
                <a:solidFill>
                  <a:schemeClr val="accent2"/>
                </a:solidFill>
              </a:rPr>
              <a:t>	with several approved Continuation Applications </a:t>
            </a:r>
            <a:endParaRPr lang="en-US" b="1" dirty="0">
              <a:solidFill>
                <a:schemeClr val="accent2"/>
              </a:solidFill>
            </a:endParaRPr>
          </a:p>
          <a:p>
            <a:pPr marL="0" indent="0">
              <a:spcBef>
                <a:spcPts val="320"/>
              </a:spcBef>
              <a:buClr>
                <a:srgbClr val="990000"/>
              </a:buClr>
              <a:buSzPts val="1440"/>
              <a:buFont typeface="Arial"/>
              <a:buNone/>
            </a:pPr>
            <a:endParaRPr lang="en-US" sz="1600" b="1" dirty="0"/>
          </a:p>
          <a:p>
            <a:pPr marL="0" indent="0">
              <a:spcBef>
                <a:spcPts val="320"/>
              </a:spcBef>
              <a:buClr>
                <a:srgbClr val="990000"/>
              </a:buClr>
              <a:buSzPts val="1440"/>
              <a:buFont typeface="Arial"/>
              <a:buNone/>
            </a:pPr>
            <a:endParaRPr lang="en-US" sz="1600" b="1" dirty="0"/>
          </a:p>
          <a:p>
            <a:pPr marL="342900" indent="-342900">
              <a:spcBef>
                <a:spcPts val="320"/>
              </a:spcBef>
              <a:buClr>
                <a:srgbClr val="990000"/>
              </a:buClr>
              <a:buSzPts val="1440"/>
              <a:buFont typeface="Arial"/>
              <a:buNone/>
            </a:pPr>
            <a:endParaRPr lang="en-US" sz="1600" b="1" dirty="0"/>
          </a:p>
          <a:p>
            <a:pPr marL="342900" indent="-342900">
              <a:spcBef>
                <a:spcPts val="320"/>
              </a:spcBef>
              <a:buClr>
                <a:srgbClr val="990000"/>
              </a:buClr>
              <a:buSzPts val="1440"/>
              <a:buFont typeface="Arial"/>
              <a:buNone/>
            </a:pPr>
            <a:endParaRPr lang="en-US" sz="1600" b="1" dirty="0"/>
          </a:p>
          <a:p>
            <a:pPr marL="342900" indent="-342900">
              <a:spcBef>
                <a:spcPts val="320"/>
              </a:spcBef>
              <a:buClr>
                <a:srgbClr val="990000"/>
              </a:buClr>
              <a:buSzPts val="1440"/>
              <a:buFont typeface="Arial"/>
              <a:buNone/>
            </a:pPr>
            <a:r>
              <a:rPr lang="en-US" sz="1600" b="1" dirty="0"/>
              <a:t>                                                                                                  </a:t>
            </a:r>
            <a:endParaRPr lang="en-US" dirty="0"/>
          </a:p>
          <a:p>
            <a:pPr marL="342900" indent="-342900">
              <a:spcBef>
                <a:spcPts val="320"/>
              </a:spcBef>
              <a:buClr>
                <a:srgbClr val="990000"/>
              </a:buClr>
              <a:buSzPts val="1440"/>
              <a:buFont typeface="Arial"/>
              <a:buNone/>
            </a:pPr>
            <a:endParaRPr lang="en-US" sz="1600" b="1" dirty="0"/>
          </a:p>
        </p:txBody>
      </p:sp>
      <p:pic>
        <p:nvPicPr>
          <p:cNvPr id="3" name="Google Shape;147;p5">
            <a:extLst>
              <a:ext uri="{FF2B5EF4-FFF2-40B4-BE49-F238E27FC236}">
                <a16:creationId xmlns:a16="http://schemas.microsoft.com/office/drawing/2014/main" id="{AED3DD85-AC5A-407E-07B7-28E48AA7129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331368" y="1760066"/>
            <a:ext cx="5040561" cy="98095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48;p5">
            <a:extLst>
              <a:ext uri="{FF2B5EF4-FFF2-40B4-BE49-F238E27FC236}">
                <a16:creationId xmlns:a16="http://schemas.microsoft.com/office/drawing/2014/main" id="{5F515ECB-36C0-DB73-BA4B-ABD0C8CA6F6C}"/>
              </a:ext>
            </a:extLst>
          </p:cNvPr>
          <p:cNvSpPr/>
          <p:nvPr/>
        </p:nvSpPr>
        <p:spPr>
          <a:xfrm>
            <a:off x="4187550" y="648863"/>
            <a:ext cx="4524098" cy="5385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2900"/>
              <a:buFont typeface="Calibri"/>
              <a:buNone/>
            </a:pPr>
            <a:r>
              <a:rPr lang="en-US" sz="2900" b="0" i="0" u="none" strike="noStrike" cap="none" dirty="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Swab-based Test  Platform</a:t>
            </a:r>
            <a:endParaRPr sz="2900" b="0" i="0" u="none" strike="noStrike" cap="none" dirty="0">
              <a:solidFill>
                <a:srgbClr val="00B0F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Google Shape;149;p5">
            <a:extLst>
              <a:ext uri="{FF2B5EF4-FFF2-40B4-BE49-F238E27FC236}">
                <a16:creationId xmlns:a16="http://schemas.microsoft.com/office/drawing/2014/main" id="{A7CCEF8D-44FB-8468-FC03-2987AF8F68A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20676" y="605889"/>
            <a:ext cx="2427051" cy="502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50;p5">
            <a:extLst>
              <a:ext uri="{FF2B5EF4-FFF2-40B4-BE49-F238E27FC236}">
                <a16:creationId xmlns:a16="http://schemas.microsoft.com/office/drawing/2014/main" id="{77DCB657-2664-77AF-B576-E9B02FFAD59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400" y="152400"/>
            <a:ext cx="1440160" cy="98967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550106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1A19F70-FD06-C264-004B-8F15D222FE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107" y="2218049"/>
            <a:ext cx="7846943" cy="436671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-7935" rIns="0" bIns="-7935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90000"/>
              </a:lnSpc>
              <a:spcBef>
                <a:spcPts val="400"/>
              </a:spcBef>
              <a:buClr>
                <a:srgbClr val="990000"/>
              </a:buClr>
              <a:buSzPts val="1800"/>
            </a:pPr>
            <a:r>
              <a:rPr lang="en-IL" altLang="en-IL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the test? </a:t>
            </a:r>
            <a:endParaRPr lang="en-US" altLang="en-IL" sz="16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eaLnBrk="0" fontAlgn="base" hangingPunct="0">
              <a:lnSpc>
                <a:spcPct val="90000"/>
              </a:lnSpc>
              <a:spcBef>
                <a:spcPts val="400"/>
              </a:spcBef>
              <a:buClr>
                <a:srgbClr val="990000"/>
              </a:buClr>
              <a:buSzPts val="1800"/>
            </a:pPr>
            <a:r>
              <a:rPr lang="en-IL" altLang="en-IL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Occult blood in the stool</a:t>
            </a:r>
            <a:r>
              <a:rPr lang="en-US" altLang="en-IL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The second most common cancer in Israel and</a:t>
            </a:r>
            <a:r>
              <a:rPr lang="en-IL" altLang="en-IL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may indicate the presence of polyps or cancerous cells in the colon (polyps may later turn into cancerous tumours); </a:t>
            </a:r>
            <a:endParaRPr lang="en-US" altLang="en-IL"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eaLnBrk="0" fontAlgn="base" hangingPunct="0">
              <a:lnSpc>
                <a:spcPct val="90000"/>
              </a:lnSpc>
              <a:spcBef>
                <a:spcPts val="400"/>
              </a:spcBef>
              <a:buClr>
                <a:srgbClr val="990000"/>
              </a:buClr>
              <a:buSzPts val="1800"/>
            </a:pPr>
            <a:r>
              <a:rPr lang="en-IL" altLang="en-IL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positive result for occult blood in the stool requires further investigation</a:t>
            </a:r>
            <a:r>
              <a:rPr lang="en-US" altLang="en-IL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en-IL" altLang="en-IL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altLang="en-IL"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342900" eaLnBrk="0" fontAlgn="base" hangingPunct="0">
              <a:lnSpc>
                <a:spcPct val="90000"/>
              </a:lnSpc>
              <a:spcBef>
                <a:spcPts val="400"/>
              </a:spcBef>
              <a:buClr>
                <a:srgbClr val="990000"/>
              </a:buClr>
              <a:buSzPts val="1800"/>
              <a:buFont typeface="Arial"/>
              <a:buChar char="■"/>
            </a:pPr>
            <a:endParaRPr lang="en-US" altLang="en-IL"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eaLnBrk="0" fontAlgn="base" hangingPunct="0">
              <a:lnSpc>
                <a:spcPct val="90000"/>
              </a:lnSpc>
              <a:spcBef>
                <a:spcPts val="400"/>
              </a:spcBef>
              <a:buClr>
                <a:srgbClr val="990000"/>
              </a:buClr>
              <a:buSzPts val="1800"/>
            </a:pPr>
            <a:r>
              <a:rPr lang="en-IL" altLang="en-IL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It Works? </a:t>
            </a:r>
            <a:endParaRPr lang="en-US" altLang="en-IL" sz="16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eaLnBrk="0" fontAlgn="base" hangingPunct="0">
              <a:lnSpc>
                <a:spcPct val="90000"/>
              </a:lnSpc>
              <a:spcBef>
                <a:spcPts val="400"/>
              </a:spcBef>
              <a:buClr>
                <a:srgbClr val="990000"/>
              </a:buClr>
              <a:buSzPts val="1800"/>
            </a:pPr>
            <a:r>
              <a:rPr lang="en-IL" altLang="en-IL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test detects occult bleeding that is not visible to the eye and may indicate polyps or tumours, which tend to bleed. In case of a positive result, it is recommended to undergo a colonoscopy</a:t>
            </a:r>
            <a:r>
              <a:rPr lang="en-US" altLang="en-IL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</a:p>
          <a:p>
            <a:pPr eaLnBrk="0" fontAlgn="base" hangingPunct="0">
              <a:lnSpc>
                <a:spcPct val="90000"/>
              </a:lnSpc>
              <a:spcBef>
                <a:spcPts val="400"/>
              </a:spcBef>
              <a:buClr>
                <a:srgbClr val="990000"/>
              </a:buClr>
              <a:buSzPts val="1800"/>
            </a:pPr>
            <a:r>
              <a:rPr lang="en-IL" altLang="en-IL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altLang="en-IL"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eaLnBrk="0" fontAlgn="base" hangingPunct="0">
              <a:lnSpc>
                <a:spcPct val="90000"/>
              </a:lnSpc>
              <a:spcBef>
                <a:spcPts val="400"/>
              </a:spcBef>
              <a:buClr>
                <a:srgbClr val="990000"/>
              </a:buClr>
              <a:buSzPts val="1800"/>
            </a:pPr>
            <a:r>
              <a:rPr lang="en-IL" altLang="en-IL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is it recommended to do the test? </a:t>
            </a:r>
            <a:endParaRPr lang="en-US" altLang="en-IL" sz="16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eaLnBrk="0" fontAlgn="base" hangingPunct="0">
              <a:lnSpc>
                <a:spcPct val="90000"/>
              </a:lnSpc>
              <a:spcBef>
                <a:spcPts val="400"/>
              </a:spcBef>
              <a:buClr>
                <a:srgbClr val="990000"/>
              </a:buClr>
              <a:buSzPts val="1800"/>
            </a:pPr>
            <a:r>
              <a:rPr lang="en-IL" altLang="en-IL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From the age of 50 to the age of 74</a:t>
            </a:r>
            <a:r>
              <a:rPr lang="en-US" altLang="en-IL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(approximately 1M patients in Israel</a:t>
            </a:r>
            <a:r>
              <a:rPr lang="en-IL" altLang="en-IL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once a year</a:t>
            </a:r>
            <a:r>
              <a:rPr lang="en-US" altLang="en-IL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r>
              <a:rPr lang="en-IL" altLang="en-IL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endParaRPr lang="en-US" altLang="en-IL"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eaLnBrk="0" fontAlgn="base" hangingPunct="0">
              <a:lnSpc>
                <a:spcPct val="90000"/>
              </a:lnSpc>
              <a:spcBef>
                <a:spcPts val="400"/>
              </a:spcBef>
              <a:buClr>
                <a:srgbClr val="990000"/>
              </a:buClr>
              <a:buSzPts val="1800"/>
            </a:pPr>
            <a:r>
              <a:rPr lang="en-IL" altLang="en-IL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test </a:t>
            </a:r>
            <a:r>
              <a:rPr lang="en-US" altLang="en-IL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</a:t>
            </a:r>
            <a:r>
              <a:rPr lang="en-IL" altLang="en-IL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the health basket</a:t>
            </a:r>
            <a:r>
              <a:rPr lang="en-US" altLang="en-IL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</a:p>
          <a:p>
            <a:pPr marL="342900" indent="-342900" eaLnBrk="0" fontAlgn="base" hangingPunct="0">
              <a:lnSpc>
                <a:spcPct val="90000"/>
              </a:lnSpc>
              <a:spcBef>
                <a:spcPts val="400"/>
              </a:spcBef>
              <a:buClr>
                <a:srgbClr val="990000"/>
              </a:buClr>
              <a:buSzPts val="1800"/>
              <a:buFont typeface="Arial"/>
              <a:buChar char="■"/>
            </a:pPr>
            <a:endParaRPr lang="en-US" altLang="en-IL"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342900" eaLnBrk="0" fontAlgn="base" hangingPunct="0">
              <a:lnSpc>
                <a:spcPct val="90000"/>
              </a:lnSpc>
              <a:spcBef>
                <a:spcPts val="400"/>
              </a:spcBef>
              <a:buClr>
                <a:srgbClr val="990000"/>
              </a:buClr>
              <a:buSzPts val="1800"/>
              <a:buFont typeface="Arial"/>
              <a:buChar char="■"/>
            </a:pPr>
            <a:endParaRPr lang="en-US" altLang="en-IL"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 eaLnBrk="0" fontAlgn="base" hangingPunct="0">
              <a:lnSpc>
                <a:spcPct val="90000"/>
              </a:lnSpc>
              <a:spcBef>
                <a:spcPts val="400"/>
              </a:spcBef>
              <a:buClr>
                <a:srgbClr val="990000"/>
              </a:buClr>
              <a:buSzPts val="1800"/>
            </a:pPr>
            <a:r>
              <a:rPr lang="en-US" altLang="en-IL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very high lack of responsiveness from patients - (approximately 50%)</a:t>
            </a:r>
            <a:endParaRPr lang="en-IL" altLang="en-IL" sz="16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Google Shape;129;p4">
            <a:extLst>
              <a:ext uri="{FF2B5EF4-FFF2-40B4-BE49-F238E27FC236}">
                <a16:creationId xmlns:a16="http://schemas.microsoft.com/office/drawing/2014/main" id="{C4F015B8-F58D-E9EA-A055-3D1779018C6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2400" y="152400"/>
            <a:ext cx="1440160" cy="989673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236;p7">
            <a:extLst>
              <a:ext uri="{FF2B5EF4-FFF2-40B4-BE49-F238E27FC236}">
                <a16:creationId xmlns:a16="http://schemas.microsoft.com/office/drawing/2014/main" id="{82CB5325-5EC8-4791-3896-45194F18BA08}"/>
              </a:ext>
            </a:extLst>
          </p:cNvPr>
          <p:cNvSpPr/>
          <p:nvPr/>
        </p:nvSpPr>
        <p:spPr>
          <a:xfrm>
            <a:off x="1592549" y="1071587"/>
            <a:ext cx="624540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Calibri"/>
              <a:buNone/>
            </a:pPr>
            <a:r>
              <a:rPr lang="en-US" sz="3200" b="0" i="0" u="none" strike="noStrike" cap="none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Application – </a:t>
            </a:r>
            <a:r>
              <a:rPr lang="en-US" sz="3200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FOB</a:t>
            </a:r>
            <a:r>
              <a:rPr lang="en-US" sz="3200" b="0" i="0" u="none" strike="noStrike" cap="none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Test</a:t>
            </a:r>
            <a:endParaRPr sz="3200" b="0" i="0" u="none" strike="noStrike" cap="none" dirty="0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033969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תוכן 2">
            <a:extLst>
              <a:ext uri="{FF2B5EF4-FFF2-40B4-BE49-F238E27FC236}">
                <a16:creationId xmlns:a16="http://schemas.microsoft.com/office/drawing/2014/main" id="{85F1A2A5-0C22-4666-1AC9-42579D71D9A7}"/>
              </a:ext>
            </a:extLst>
          </p:cNvPr>
          <p:cNvSpPr txBox="1">
            <a:spLocks/>
          </p:cNvSpPr>
          <p:nvPr/>
        </p:nvSpPr>
        <p:spPr>
          <a:xfrm>
            <a:off x="383669" y="3048392"/>
            <a:ext cx="8065376" cy="4351338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defTabSz="914400" fontAlgn="base">
              <a:spcBef>
                <a:spcPts val="400"/>
              </a:spcBef>
              <a:buClr>
                <a:srgbClr val="990000"/>
              </a:buClr>
              <a:buSzPts val="1800"/>
              <a:buFont typeface="Arial"/>
              <a:buChar char="■"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Immunological test (antibody-based)</a:t>
            </a:r>
          </a:p>
          <a:p>
            <a:pPr marL="342900" indent="-342900" defTabSz="914400" fontAlgn="base">
              <a:spcBef>
                <a:spcPts val="400"/>
              </a:spcBef>
              <a:buClr>
                <a:srgbClr val="990000"/>
              </a:buClr>
              <a:buSzPts val="1800"/>
              <a:buFont typeface="Arial"/>
              <a:buChar char="■"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capable of reliably detecting human hemoglobin</a:t>
            </a:r>
          </a:p>
          <a:p>
            <a:pPr marL="342900" indent="-342900" defTabSz="914400" fontAlgn="base">
              <a:spcBef>
                <a:spcPts val="400"/>
              </a:spcBef>
              <a:buClr>
                <a:srgbClr val="990000"/>
              </a:buClr>
              <a:buSzPts val="1800"/>
              <a:buFont typeface="Arial"/>
              <a:buChar char="■"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from a concentration of 50 ng/ml and in a stool amount of 6μg.</a:t>
            </a:r>
          </a:p>
          <a:p>
            <a:pPr marL="342900" indent="-342900" defTabSz="914400" fontAlgn="base">
              <a:spcBef>
                <a:spcPts val="400"/>
              </a:spcBef>
              <a:buClr>
                <a:srgbClr val="990000"/>
              </a:buClr>
              <a:buSzPts val="1800"/>
              <a:buFont typeface="Arial"/>
              <a:buChar char="■"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Clinical data of our kit:</a:t>
            </a:r>
          </a:p>
          <a:p>
            <a:pPr marL="0" indent="0" defTabSz="914400" fontAlgn="base">
              <a:spcBef>
                <a:spcPts val="400"/>
              </a:spcBef>
              <a:buClr>
                <a:srgbClr val="990000"/>
              </a:buClr>
              <a:buSzPts val="1800"/>
              <a:buNone/>
            </a:pPr>
            <a:r>
              <a:rPr lang="he-IL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Sensitivity - 95%;</a:t>
            </a:r>
          </a:p>
          <a:p>
            <a:pPr marL="0" indent="0" defTabSz="914400" fontAlgn="base">
              <a:spcBef>
                <a:spcPts val="400"/>
              </a:spcBef>
              <a:buClr>
                <a:srgbClr val="990000"/>
              </a:buClr>
              <a:buSzPts val="1800"/>
              <a:buNone/>
            </a:pPr>
            <a:r>
              <a:rPr lang="he-IL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 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Specificity - 99.5%;</a:t>
            </a:r>
          </a:p>
          <a:p>
            <a:pPr marL="0" indent="0" defTabSz="914400" fontAlgn="base">
              <a:spcBef>
                <a:spcPts val="400"/>
              </a:spcBef>
              <a:buClr>
                <a:srgbClr val="990000"/>
              </a:buClr>
              <a:buSzPts val="1800"/>
              <a:buNone/>
            </a:pPr>
            <a:r>
              <a:rPr lang="he-IL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98.6% accuracy</a:t>
            </a:r>
          </a:p>
        </p:txBody>
      </p:sp>
      <p:sp>
        <p:nvSpPr>
          <p:cNvPr id="3" name="מלבן 6">
            <a:extLst>
              <a:ext uri="{FF2B5EF4-FFF2-40B4-BE49-F238E27FC236}">
                <a16:creationId xmlns:a16="http://schemas.microsoft.com/office/drawing/2014/main" id="{D5B4DCFB-DAA1-74DF-8614-13402337E78B}"/>
              </a:ext>
            </a:extLst>
          </p:cNvPr>
          <p:cNvSpPr/>
          <p:nvPr/>
        </p:nvSpPr>
        <p:spPr>
          <a:xfrm>
            <a:off x="89169" y="2200604"/>
            <a:ext cx="8860118" cy="4801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0" fontAlgn="base" hangingPunct="0">
              <a:lnSpc>
                <a:spcPct val="90000"/>
              </a:lnSpc>
              <a:spcBef>
                <a:spcPts val="400"/>
              </a:spcBef>
              <a:buClr>
                <a:srgbClr val="990000"/>
              </a:buClr>
              <a:buSzPts val="1800"/>
            </a:pPr>
            <a:r>
              <a:rPr lang="en-US" sz="2800" b="1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An accurate, reliable and Ministry of Health approved test</a:t>
            </a:r>
            <a:endParaRPr lang="he-IL" sz="2800" b="1" dirty="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4" name="Google Shape;129;p4">
            <a:extLst>
              <a:ext uri="{FF2B5EF4-FFF2-40B4-BE49-F238E27FC236}">
                <a16:creationId xmlns:a16="http://schemas.microsoft.com/office/drawing/2014/main" id="{5186F5AB-0E76-8A0C-72E3-E205A751754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2400" y="152400"/>
            <a:ext cx="1440160" cy="989673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236;p7">
            <a:extLst>
              <a:ext uri="{FF2B5EF4-FFF2-40B4-BE49-F238E27FC236}">
                <a16:creationId xmlns:a16="http://schemas.microsoft.com/office/drawing/2014/main" id="{E89D26CE-3D8A-774E-B073-26EA596FD90C}"/>
              </a:ext>
            </a:extLst>
          </p:cNvPr>
          <p:cNvSpPr/>
          <p:nvPr/>
        </p:nvSpPr>
        <p:spPr>
          <a:xfrm>
            <a:off x="1592549" y="1071587"/>
            <a:ext cx="624540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Calibri"/>
              <a:buNone/>
            </a:pPr>
            <a:r>
              <a:rPr lang="en-US" sz="3200" b="0" i="0" u="none" strike="noStrike" cap="none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R&amp;D Activity Application – </a:t>
            </a:r>
            <a:r>
              <a:rPr lang="en-US" sz="3200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Our</a:t>
            </a:r>
            <a:r>
              <a:rPr lang="en-US" sz="3200" b="0" i="0" u="none" strike="noStrike" cap="none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Test</a:t>
            </a:r>
            <a:endParaRPr sz="3200" b="0" i="0" u="none" strike="noStrike" cap="none" dirty="0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63749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"/>
          <p:cNvSpPr txBox="1">
            <a:spLocks noGrp="1"/>
          </p:cNvSpPr>
          <p:nvPr>
            <p:ph type="body" idx="4294967295"/>
          </p:nvPr>
        </p:nvSpPr>
        <p:spPr>
          <a:xfrm>
            <a:off x="0" y="115888"/>
            <a:ext cx="8496300" cy="69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1440"/>
              <a:buNone/>
            </a:pPr>
            <a:endParaRPr sz="1600" b="1" dirty="0"/>
          </a:p>
          <a:p>
            <a:pPr marL="342900" lvl="0" indent="-342900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rgbClr val="990000"/>
              </a:buClr>
              <a:buSzPts val="1440"/>
              <a:buNone/>
            </a:pPr>
            <a:endParaRPr sz="1600" b="1" dirty="0"/>
          </a:p>
          <a:p>
            <a:pPr marL="342900" lvl="0" indent="-342900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rgbClr val="990000"/>
              </a:buClr>
              <a:buSzPts val="1440"/>
              <a:buNone/>
            </a:pPr>
            <a:endParaRPr sz="1600" b="1" dirty="0"/>
          </a:p>
          <a:p>
            <a:pPr marL="342900" lvl="0" indent="-342900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rgbClr val="990000"/>
              </a:buClr>
              <a:buSzPts val="1440"/>
              <a:buNone/>
            </a:pPr>
            <a:endParaRPr sz="1600" dirty="0"/>
          </a:p>
          <a:p>
            <a:pPr marL="342900" lvl="0" indent="-342900" algn="ctr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rgbClr val="990000"/>
              </a:buClr>
              <a:buSzPts val="1440"/>
              <a:buNone/>
            </a:pPr>
            <a:endParaRPr lang="en-US" sz="1600" u="sng" dirty="0"/>
          </a:p>
          <a:p>
            <a:pPr marL="342900" lvl="0" indent="-342900" algn="ctr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rgbClr val="990000"/>
              </a:buClr>
              <a:buSzPts val="1440"/>
              <a:buNone/>
            </a:pPr>
            <a:endParaRPr sz="1600" u="sng" dirty="0"/>
          </a:p>
          <a:p>
            <a:pPr marL="34290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990000"/>
              </a:buClr>
              <a:buSzPts val="2160"/>
              <a:buChar char="■"/>
            </a:pPr>
            <a:r>
              <a:rPr lang="en-US" sz="2400" dirty="0"/>
              <a:t>Available Rapid Diagnostic Tests (RDT) for most infectious diseases are:</a:t>
            </a:r>
            <a:endParaRPr dirty="0"/>
          </a:p>
          <a:p>
            <a:pPr marL="342900" indent="-342900">
              <a:spcBef>
                <a:spcPts val="400"/>
              </a:spcBef>
              <a:buClr>
                <a:srgbClr val="990000"/>
              </a:buClr>
              <a:buSzPts val="1800"/>
              <a:buFont typeface="Arial"/>
              <a:buChar char="■"/>
            </a:pPr>
            <a:r>
              <a:rPr lang="en-US" sz="2000" dirty="0"/>
              <a:t>Difficult to perform</a:t>
            </a:r>
            <a:endParaRPr sz="2000" dirty="0"/>
          </a:p>
          <a:p>
            <a:pPr marL="342900" indent="-342900">
              <a:spcBef>
                <a:spcPts val="400"/>
              </a:spcBef>
              <a:buClr>
                <a:srgbClr val="990000"/>
              </a:buClr>
              <a:buSzPts val="1800"/>
              <a:buFont typeface="Arial"/>
              <a:buChar char="■"/>
            </a:pPr>
            <a:r>
              <a:rPr lang="en-US" sz="2000" dirty="0"/>
              <a:t>Time and attention consuming</a:t>
            </a:r>
            <a:endParaRPr sz="2000" dirty="0"/>
          </a:p>
          <a:p>
            <a:pPr marL="342900" indent="-342900">
              <a:spcBef>
                <a:spcPts val="400"/>
              </a:spcBef>
              <a:buClr>
                <a:srgbClr val="990000"/>
              </a:buClr>
              <a:buSzPts val="1800"/>
              <a:buFont typeface="Arial"/>
              <a:buChar char="■"/>
            </a:pPr>
            <a:r>
              <a:rPr lang="en-US" sz="2000" dirty="0"/>
              <a:t>Non-intuitive</a:t>
            </a:r>
            <a:endParaRPr sz="2000" dirty="0"/>
          </a:p>
          <a:p>
            <a:pPr marL="342900" indent="-342900">
              <a:spcBef>
                <a:spcPts val="400"/>
              </a:spcBef>
              <a:buClr>
                <a:srgbClr val="990000"/>
              </a:buClr>
              <a:buSzPts val="1800"/>
              <a:buFont typeface="Arial"/>
              <a:buChar char="■"/>
            </a:pPr>
            <a:r>
              <a:rPr lang="en-US" sz="2000" dirty="0"/>
              <a:t>Operator-dependent accuracy</a:t>
            </a:r>
          </a:p>
          <a:p>
            <a:pPr marL="342900" indent="-342900">
              <a:spcBef>
                <a:spcPts val="400"/>
              </a:spcBef>
              <a:buClr>
                <a:srgbClr val="990000"/>
              </a:buClr>
              <a:buSzPts val="1800"/>
              <a:buFont typeface="Arial"/>
              <a:buChar char="■"/>
            </a:pPr>
            <a:r>
              <a:rPr lang="en-US" sz="2000" dirty="0"/>
              <a:t>Unbiased reading of test results</a:t>
            </a:r>
          </a:p>
          <a:p>
            <a:pPr marL="342900" indent="-342900">
              <a:spcBef>
                <a:spcPts val="400"/>
              </a:spcBef>
              <a:buClr>
                <a:srgbClr val="990000"/>
              </a:buClr>
              <a:buSzPts val="1800"/>
              <a:buFont typeface="Arial"/>
              <a:buChar char="■"/>
            </a:pPr>
            <a:r>
              <a:rPr lang="en-US" sz="2000" dirty="0"/>
              <a:t>No recording or informing of the test results </a:t>
            </a:r>
          </a:p>
          <a:p>
            <a:pPr marL="342900" indent="-342900">
              <a:spcBef>
                <a:spcPts val="400"/>
              </a:spcBef>
              <a:buClr>
                <a:srgbClr val="990000"/>
              </a:buClr>
              <a:buSzPts val="1800"/>
              <a:buFont typeface="Arial"/>
              <a:buChar char="■"/>
            </a:pPr>
            <a:endParaRPr sz="2000" dirty="0"/>
          </a:p>
          <a:p>
            <a:pPr marL="342900" lvl="0" indent="-342900" algn="ctr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990000"/>
              </a:buClr>
              <a:buSzPts val="2520"/>
              <a:buNone/>
            </a:pPr>
            <a:r>
              <a:rPr lang="en-US" b="1" dirty="0"/>
              <a:t>Our Solution	-				</a:t>
            </a:r>
            <a:r>
              <a:rPr lang="en-US" sz="2000" dirty="0"/>
              <a:t> ™ </a:t>
            </a:r>
            <a:endParaRPr dirty="0"/>
          </a:p>
          <a:p>
            <a:pPr marL="342900" lvl="0" indent="-342900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rgbClr val="990000"/>
              </a:buClr>
              <a:buSzPts val="1440"/>
              <a:buNone/>
            </a:pPr>
            <a:endParaRPr sz="1600" dirty="0"/>
          </a:p>
          <a:p>
            <a:pPr marL="342900" lvl="0" indent="-342900" algn="ctr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990000"/>
              </a:buClr>
              <a:buSzPts val="2160"/>
              <a:buNone/>
            </a:pPr>
            <a:r>
              <a:rPr lang="en-US" sz="2400" dirty="0"/>
              <a:t>Patented Platform that allows No Step Convenient, Accurate and</a:t>
            </a:r>
            <a:r>
              <a:rPr lang="he-IL" sz="2400" dirty="0"/>
              <a:t> </a:t>
            </a:r>
            <a:r>
              <a:rPr lang="en-US" sz="2400" dirty="0"/>
              <a:t> Reported RDT Performance </a:t>
            </a:r>
            <a:endParaRPr dirty="0"/>
          </a:p>
          <a:p>
            <a:pPr marL="342900" lvl="0" indent="-342900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rgbClr val="990000"/>
              </a:buClr>
              <a:buSzPts val="1440"/>
              <a:buNone/>
            </a:pPr>
            <a:endParaRPr sz="1600" b="1" dirty="0"/>
          </a:p>
        </p:txBody>
      </p:sp>
      <p:sp>
        <p:nvSpPr>
          <p:cNvPr id="128" name="Google Shape;128;p4"/>
          <p:cNvSpPr/>
          <p:nvPr/>
        </p:nvSpPr>
        <p:spPr>
          <a:xfrm>
            <a:off x="2987824" y="357188"/>
            <a:ext cx="5798989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endParaRPr sz="3000" b="1" i="1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9" name="Google Shape;129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152400"/>
            <a:ext cx="1440160" cy="989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36357" y="4887227"/>
            <a:ext cx="1387326" cy="31488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36;p7">
            <a:extLst>
              <a:ext uri="{FF2B5EF4-FFF2-40B4-BE49-F238E27FC236}">
                <a16:creationId xmlns:a16="http://schemas.microsoft.com/office/drawing/2014/main" id="{B8097FBD-F04C-0B0B-3D50-74B9910D01D1}"/>
              </a:ext>
            </a:extLst>
          </p:cNvPr>
          <p:cNvSpPr/>
          <p:nvPr/>
        </p:nvSpPr>
        <p:spPr>
          <a:xfrm>
            <a:off x="1592549" y="709541"/>
            <a:ext cx="7588584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rgbClr val="00B0F0"/>
              </a:buClr>
              <a:buSzPts val="3200"/>
            </a:pPr>
            <a:r>
              <a:rPr lang="en-US" sz="3200" b="0" i="0" u="none" strike="noStrike" cap="none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  	  R&amp;D Activity Application </a:t>
            </a:r>
          </a:p>
          <a:p>
            <a:pPr>
              <a:buClr>
                <a:srgbClr val="00B0F0"/>
              </a:buClr>
              <a:buSzPts val="3200"/>
            </a:pPr>
            <a:r>
              <a:rPr lang="en-US" sz="3200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	 	 </a:t>
            </a:r>
            <a:r>
              <a:rPr lang="en-US" sz="2400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The Unmet Need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Calibri"/>
              <a:buNone/>
            </a:pPr>
            <a:endParaRPr sz="3200" b="0" i="0" u="none" strike="noStrike" cap="none" dirty="0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7"/>
          <p:cNvSpPr txBox="1">
            <a:spLocks noGrp="1"/>
          </p:cNvSpPr>
          <p:nvPr>
            <p:ph type="body" idx="4294967295"/>
          </p:nvPr>
        </p:nvSpPr>
        <p:spPr>
          <a:xfrm>
            <a:off x="0" y="379413"/>
            <a:ext cx="8496300" cy="67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1440"/>
              <a:buNone/>
            </a:pPr>
            <a:endParaRPr lang="en-US" sz="1600" b="1" dirty="0"/>
          </a:p>
          <a:p>
            <a:pPr marL="342900" lvl="0" indent="-342900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rgbClr val="990000"/>
              </a:buClr>
              <a:buSzPts val="1440"/>
              <a:buNone/>
            </a:pPr>
            <a:endParaRPr lang="en-US" sz="1600" b="1" dirty="0"/>
          </a:p>
          <a:p>
            <a:pPr marL="342900" lvl="0" indent="-342900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rgbClr val="990000"/>
              </a:buClr>
              <a:buSzPts val="1440"/>
              <a:buNone/>
            </a:pPr>
            <a:endParaRPr lang="en-US" sz="1600" b="1" dirty="0"/>
          </a:p>
          <a:p>
            <a:pPr marL="342900" lvl="0" indent="-342900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rgbClr val="990000"/>
              </a:buClr>
              <a:buSzPts val="1440"/>
              <a:buNone/>
            </a:pPr>
            <a:endParaRPr lang="en-US" sz="1600" b="1" dirty="0"/>
          </a:p>
          <a:p>
            <a:pPr marL="342900" lvl="0" indent="-342900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rgbClr val="990000"/>
              </a:buClr>
              <a:buSzPts val="1440"/>
              <a:buNone/>
            </a:pPr>
            <a:endParaRPr lang="en-US" sz="1600" b="1" dirty="0"/>
          </a:p>
          <a:p>
            <a:pPr marL="342900" lvl="0" indent="-342900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rgbClr val="990000"/>
              </a:buClr>
              <a:buSzPts val="1440"/>
              <a:buNone/>
            </a:pPr>
            <a:endParaRPr lang="en-US" sz="1600" b="1" dirty="0"/>
          </a:p>
          <a:p>
            <a:pPr marL="342900" lvl="0" indent="-342900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rgbClr val="990000"/>
              </a:buClr>
              <a:buSzPts val="1440"/>
              <a:buNone/>
            </a:pPr>
            <a:endParaRPr lang="en-US" sz="1600" b="1" dirty="0"/>
          </a:p>
          <a:p>
            <a:pPr marL="0" lvl="0" indent="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90000"/>
              </a:buClr>
              <a:buSzPts val="1800"/>
              <a:buNone/>
            </a:pPr>
            <a:r>
              <a:rPr lang="en-US" sz="2000" b="1" dirty="0">
                <a:solidFill>
                  <a:srgbClr val="000000"/>
                </a:solidFill>
              </a:rPr>
              <a:t>RDT Computer Vision Application Development for Mobile Devices:</a:t>
            </a:r>
          </a:p>
          <a:p>
            <a:pPr marL="0" lvl="0" indent="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90000"/>
              </a:buClr>
              <a:buSzPts val="1800"/>
              <a:buNone/>
            </a:pPr>
            <a:endParaRPr lang="en-US" sz="2000" b="1" dirty="0">
              <a:solidFill>
                <a:srgbClr val="000000"/>
              </a:solidFill>
            </a:endParaRPr>
          </a:p>
          <a:p>
            <a:pPr marL="80010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90000"/>
              </a:buClr>
              <a:buSzPts val="1800"/>
              <a:buChar char="■"/>
            </a:pPr>
            <a:r>
              <a:rPr lang="en-US" sz="2000" dirty="0">
                <a:solidFill>
                  <a:srgbClr val="000000"/>
                </a:solidFill>
              </a:rPr>
              <a:t>Computer Vision Application - </a:t>
            </a:r>
            <a:r>
              <a:rPr lang="en-US" sz="2000" dirty="0"/>
              <a:t>Patent granted in US</a:t>
            </a:r>
          </a:p>
          <a:p>
            <a:pPr marL="80010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90000"/>
              </a:buClr>
              <a:buSzPts val="1800"/>
              <a:buChar char="■"/>
            </a:pPr>
            <a:r>
              <a:rPr lang="en-US" sz="2000" dirty="0"/>
              <a:t>Comprehensive and Organized Data</a:t>
            </a:r>
          </a:p>
          <a:p>
            <a:pPr marL="80010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90000"/>
              </a:buClr>
              <a:buSzPts val="1800"/>
              <a:buChar char="■"/>
            </a:pPr>
            <a:r>
              <a:rPr lang="en-US" sz="2000" dirty="0"/>
              <a:t>CE Mark &amp; AMAR Approval for FOB self test</a:t>
            </a:r>
          </a:p>
          <a:p>
            <a:pPr marL="80010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90000"/>
              </a:buClr>
              <a:buSzPts val="1800"/>
              <a:buChar char="■"/>
            </a:pPr>
            <a:r>
              <a:rPr lang="en-US" sz="2000" dirty="0"/>
              <a:t>Selling the test in the Israeli market since 2019</a:t>
            </a:r>
          </a:p>
          <a:p>
            <a:pPr marL="80010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90000"/>
              </a:buClr>
              <a:buSzPts val="1800"/>
              <a:buChar char="■"/>
            </a:pPr>
            <a:r>
              <a:rPr lang="en-US" sz="2000" dirty="0"/>
              <a:t>Understanding of the market and business potential</a:t>
            </a:r>
          </a:p>
          <a:p>
            <a:pPr marL="80010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90000"/>
              </a:buClr>
              <a:buSzPts val="1800"/>
              <a:buChar char="■"/>
            </a:pPr>
            <a:r>
              <a:rPr lang="en-US" sz="2000" dirty="0"/>
              <a:t>High Level Architecture (HLA) on a cloud solution supported by AWS</a:t>
            </a:r>
          </a:p>
          <a:p>
            <a:pPr marL="80010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90000"/>
              </a:buClr>
              <a:buSzPts val="1800"/>
              <a:buChar char="■"/>
            </a:pPr>
            <a:r>
              <a:rPr lang="en-US" sz="2000" dirty="0"/>
              <a:t>No need to download an application or sign-up for our service</a:t>
            </a:r>
          </a:p>
          <a:p>
            <a:pPr marL="80010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90000"/>
              </a:buClr>
              <a:buSzPts val="1800"/>
              <a:buChar char="■"/>
            </a:pPr>
            <a:endParaRPr lang="en-US" sz="2000" dirty="0"/>
          </a:p>
          <a:p>
            <a:pPr marL="628650" lvl="0" indent="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100"/>
              <a:buNone/>
            </a:pPr>
            <a:endParaRPr lang="en-US" sz="2000" dirty="0"/>
          </a:p>
          <a:p>
            <a:pPr marL="0" lvl="0" indent="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100"/>
              <a:buNone/>
            </a:pPr>
            <a:endParaRPr lang="en-US" sz="2000" dirty="0">
              <a:solidFill>
                <a:srgbClr val="000000"/>
              </a:solidFill>
            </a:endParaRPr>
          </a:p>
          <a:p>
            <a:pPr marL="742950" lvl="1" indent="-190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90000"/>
              </a:buClr>
              <a:buSzPts val="1500"/>
              <a:buNone/>
            </a:pPr>
            <a:endParaRPr lang="en-US" sz="2000" dirty="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rgbClr val="990000"/>
              </a:buClr>
              <a:buSzPts val="1440"/>
              <a:buNone/>
            </a:pPr>
            <a:endParaRPr lang="en-US" sz="1600" b="1" dirty="0"/>
          </a:p>
          <a:p>
            <a:pPr marL="0" lvl="0" indent="0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rgbClr val="990000"/>
              </a:buClr>
              <a:buSzPts val="1440"/>
              <a:buNone/>
            </a:pPr>
            <a:endParaRPr lang="en-US" sz="1600" b="1" dirty="0"/>
          </a:p>
          <a:p>
            <a:pPr marL="342900" lvl="0" indent="-342900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rgbClr val="990000"/>
              </a:buClr>
              <a:buSzPts val="1440"/>
              <a:buNone/>
            </a:pPr>
            <a:endParaRPr lang="en-US" sz="1600" b="1" dirty="0"/>
          </a:p>
          <a:p>
            <a:pPr marL="342900" lvl="0" indent="-342900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rgbClr val="990000"/>
              </a:buClr>
              <a:buSzPts val="1440"/>
              <a:buNone/>
            </a:pPr>
            <a:endParaRPr lang="en-US" sz="1600" b="1" dirty="0"/>
          </a:p>
          <a:p>
            <a:pPr marL="342900" lvl="0" indent="-342900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rgbClr val="990000"/>
              </a:buClr>
              <a:buSzPts val="1440"/>
              <a:buNone/>
            </a:pPr>
            <a:r>
              <a:rPr lang="en-US" sz="1600" b="1" dirty="0"/>
              <a:t>                                                                                                  </a:t>
            </a:r>
            <a:endParaRPr lang="en-US" dirty="0"/>
          </a:p>
          <a:p>
            <a:pPr marL="0" lvl="0" indent="0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rgbClr val="990000"/>
              </a:buClr>
              <a:buSzPts val="1440"/>
              <a:buNone/>
            </a:pPr>
            <a:endParaRPr lang="en-US" sz="1600" b="1" u="sng" dirty="0">
              <a:solidFill>
                <a:srgbClr val="000000"/>
              </a:solidFill>
            </a:endParaRPr>
          </a:p>
          <a:p>
            <a:pPr marL="342900" lvl="0" indent="-342900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rgbClr val="990000"/>
              </a:buClr>
              <a:buSzPts val="1440"/>
              <a:buNone/>
            </a:pPr>
            <a:endParaRPr lang="en-US" sz="1600" b="1" dirty="0"/>
          </a:p>
        </p:txBody>
      </p:sp>
      <p:sp>
        <p:nvSpPr>
          <p:cNvPr id="236" name="Google Shape;236;p7"/>
          <p:cNvSpPr/>
          <p:nvPr/>
        </p:nvSpPr>
        <p:spPr>
          <a:xfrm>
            <a:off x="1592549" y="1071587"/>
            <a:ext cx="62454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Calibri"/>
              <a:buNone/>
            </a:pPr>
            <a:r>
              <a:rPr lang="en-US" sz="3200" b="0" i="0" u="none" strike="noStrike" cap="none" dirty="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           </a:t>
            </a:r>
            <a:r>
              <a:rPr lang="en-US" sz="3200" b="0" i="0" u="none" strike="noStrike" cap="none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R&amp;D Activity - Application</a:t>
            </a:r>
            <a:endParaRPr lang="en-US" sz="3200" b="0" i="0" u="none" strike="noStrike" cap="none" dirty="0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7" name="Google Shape;237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152400"/>
            <a:ext cx="1440160" cy="989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4" descr="https://img.fruugo.com/product/3/68/109384683_max.jpg">
            <a:extLst>
              <a:ext uri="{FF2B5EF4-FFF2-40B4-BE49-F238E27FC236}">
                <a16:creationId xmlns:a16="http://schemas.microsoft.com/office/drawing/2014/main" id="{3C7324F1-32EF-AAB1-B3FC-0A15E16B08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0763" y="1531997"/>
            <a:ext cx="2589724" cy="2386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Google Shape;120;p1">
            <a:extLst>
              <a:ext uri="{FF2B5EF4-FFF2-40B4-BE49-F238E27FC236}">
                <a16:creationId xmlns:a16="http://schemas.microsoft.com/office/drawing/2014/main" id="{1EAA448D-A065-CC03-4F7E-12A20C9A36C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813620" y="1849591"/>
            <a:ext cx="864009" cy="297889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תמונה 20">
            <a:extLst>
              <a:ext uri="{FF2B5EF4-FFF2-40B4-BE49-F238E27FC236}">
                <a16:creationId xmlns:a16="http://schemas.microsoft.com/office/drawing/2014/main" id="{A1C19D93-27A6-ED41-603A-733F80978B60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clrChange>
              <a:clrFrom>
                <a:srgbClr val="F8F8F8"/>
              </a:clrFrom>
              <a:clrTo>
                <a:srgbClr val="F8F8F8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110" b="12129"/>
          <a:stretch/>
        </p:blipFill>
        <p:spPr>
          <a:xfrm>
            <a:off x="7550760" y="2382137"/>
            <a:ext cx="1211267" cy="123919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6">
            <a:extLst>
              <a:ext uri="{FF2B5EF4-FFF2-40B4-BE49-F238E27FC236}">
                <a16:creationId xmlns:a16="http://schemas.microsoft.com/office/drawing/2014/main" id="{57FA1138-9DDB-3ECE-B059-523E9F481D60}"/>
              </a:ext>
            </a:extLst>
          </p:cNvPr>
          <p:cNvSpPr/>
          <p:nvPr/>
        </p:nvSpPr>
        <p:spPr>
          <a:xfrm>
            <a:off x="607941" y="1277771"/>
            <a:ext cx="771557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>
              <a:spcAft>
                <a:spcPts val="1200"/>
              </a:spcAft>
            </a:pPr>
            <a:r>
              <a:rPr lang="en-US" altLang="en-IL" sz="3200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Performants of the test using our Application</a:t>
            </a:r>
            <a:endParaRPr lang="he-IL" sz="3200" dirty="0">
              <a:solidFill>
                <a:srgbClr val="00206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מלבן 6">
            <a:extLst>
              <a:ext uri="{FF2B5EF4-FFF2-40B4-BE49-F238E27FC236}">
                <a16:creationId xmlns:a16="http://schemas.microsoft.com/office/drawing/2014/main" id="{22EF05A1-4852-B25A-EE31-DBCF3AAD26E3}"/>
              </a:ext>
            </a:extLst>
          </p:cNvPr>
          <p:cNvSpPr/>
          <p:nvPr/>
        </p:nvSpPr>
        <p:spPr>
          <a:xfrm>
            <a:off x="250717" y="1991327"/>
            <a:ext cx="8909811" cy="33855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marR="0" lvl="0" indent="-285750" algn="l" fontAlgn="base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>
                <a:srgbClr val="800000"/>
              </a:buClr>
              <a:buSzTx/>
              <a:buFont typeface="Wingdings" panose="05000000000000000000" pitchFamily="2" charset="2"/>
              <a:buChar char="§"/>
              <a:tabLst/>
            </a:pPr>
            <a:r>
              <a:rPr lang="en-US" altLang="en-IL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Logging in to the application is done by logging in through the HMO apps.</a:t>
            </a:r>
          </a:p>
          <a:p>
            <a:pPr marL="285750" marR="0" lvl="0" indent="-285750" algn="l" fontAlgn="base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>
                <a:srgbClr val="800000"/>
              </a:buClr>
              <a:buSzTx/>
              <a:buFont typeface="Wingdings" panose="05000000000000000000" pitchFamily="2" charset="2"/>
              <a:buChar char="§"/>
              <a:tabLst/>
            </a:pPr>
            <a:r>
              <a:rPr lang="en-US" altLang="en-IL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patient will receive an encrypted number from the cash register </a:t>
            </a:r>
            <a:endParaRPr lang="he-IL" altLang="en-IL"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R="0" lvl="0" algn="l" fontAlgn="base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>
                <a:srgbClr val="800000"/>
              </a:buClr>
              <a:buSzTx/>
              <a:tabLst/>
            </a:pPr>
            <a:r>
              <a:rPr lang="en-US" altLang="en-IL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to identify himself in front of the application without using his personal details.</a:t>
            </a:r>
          </a:p>
          <a:p>
            <a:pPr marL="285750" marR="0" lvl="0" indent="-285750" algn="l" fontAlgn="base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>
                <a:srgbClr val="800000"/>
              </a:buClr>
              <a:buSzTx/>
              <a:buFont typeface="Wingdings" panose="05000000000000000000" pitchFamily="2" charset="2"/>
              <a:buChar char="§"/>
              <a:tabLst/>
            </a:pPr>
            <a:r>
              <a:rPr lang="en-US" altLang="en-IL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Step-by-step action instructions of the test will be presented to the patient.</a:t>
            </a:r>
          </a:p>
          <a:p>
            <a:pPr marL="285750" marR="0" lvl="0" indent="-285750" algn="l" fontAlgn="base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>
                <a:srgbClr val="800000"/>
              </a:buClr>
              <a:buSzTx/>
              <a:buFont typeface="Wingdings" panose="05000000000000000000" pitchFamily="2" charset="2"/>
              <a:buChar char="§"/>
              <a:tabLst/>
            </a:pPr>
            <a:r>
              <a:rPr lang="en-US" altLang="en-IL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 the end of the execution and waiting phases, the patient will move to a camera screen.</a:t>
            </a:r>
          </a:p>
          <a:p>
            <a:pPr marL="285750" marR="0" lvl="0" indent="-285750" algn="l" fontAlgn="base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>
                <a:srgbClr val="800000"/>
              </a:buClr>
              <a:buSzTx/>
              <a:buFont typeface="Wingdings" panose="05000000000000000000" pitchFamily="2" charset="2"/>
              <a:buChar char="§"/>
              <a:tabLst/>
            </a:pPr>
            <a:r>
              <a:rPr lang="en-US" altLang="en-IL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camera will automatically detect the test and analyze the result.</a:t>
            </a:r>
          </a:p>
          <a:p>
            <a:pPr marL="285750" marR="0" lvl="0" indent="-285750" algn="l" fontAlgn="base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>
                <a:srgbClr val="800000"/>
              </a:buClr>
              <a:buSzTx/>
              <a:buFont typeface="Wingdings" panose="05000000000000000000" pitchFamily="2" charset="2"/>
              <a:buChar char="§"/>
              <a:tabLst/>
            </a:pPr>
            <a:r>
              <a:rPr lang="en-US" altLang="en-IL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result will be sent to the HMO system for further monitoring.</a:t>
            </a:r>
          </a:p>
          <a:p>
            <a:pPr marL="285750" marR="0" lvl="0" indent="-285750" algn="l" fontAlgn="base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>
                <a:srgbClr val="800000"/>
              </a:buClr>
              <a:buSzTx/>
              <a:buFont typeface="Wingdings" panose="05000000000000000000" pitchFamily="2" charset="2"/>
              <a:buChar char="§"/>
              <a:tabLst/>
            </a:pPr>
            <a:r>
              <a:rPr lang="en-US" altLang="en-IL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result will be shown to the customer with a message </a:t>
            </a:r>
            <a:r>
              <a:rPr lang="en-US" altLang="en-IL" sz="18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designed by the HMO.</a:t>
            </a:r>
            <a:endParaRPr lang="en-IL" altLang="en-IL" sz="1800" dirty="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4" name="Google Shape;129;p4">
            <a:extLst>
              <a:ext uri="{FF2B5EF4-FFF2-40B4-BE49-F238E27FC236}">
                <a16:creationId xmlns:a16="http://schemas.microsoft.com/office/drawing/2014/main" id="{9E522333-47F2-A348-D4C1-D52C68DC5DF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2400" y="152400"/>
            <a:ext cx="1440160" cy="98967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931526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xt, letter&#10;&#10;Description automatically generated">
            <a:extLst>
              <a:ext uri="{FF2B5EF4-FFF2-40B4-BE49-F238E27FC236}">
                <a16:creationId xmlns:a16="http://schemas.microsoft.com/office/drawing/2014/main" id="{C71ADA26-66C6-6FD9-E0C0-AEDE97B5F7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020" y="1705427"/>
            <a:ext cx="3134590" cy="4448629"/>
          </a:xfrm>
          <a:prstGeom prst="rect">
            <a:avLst/>
          </a:prstGeom>
        </p:spPr>
      </p:pic>
      <p:pic>
        <p:nvPicPr>
          <p:cNvPr id="3" name="Picture 2" descr="Text&#10;&#10;Description automatically generated">
            <a:extLst>
              <a:ext uri="{FF2B5EF4-FFF2-40B4-BE49-F238E27FC236}">
                <a16:creationId xmlns:a16="http://schemas.microsoft.com/office/drawing/2014/main" id="{F1CA281D-CC05-2938-6E46-8909FAF931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6313" y="1705427"/>
            <a:ext cx="3030488" cy="4456600"/>
          </a:xfrm>
          <a:prstGeom prst="rect">
            <a:avLst/>
          </a:prstGeom>
        </p:spPr>
      </p:pic>
      <p:pic>
        <p:nvPicPr>
          <p:cNvPr id="4" name="Picture 3" descr="A drawing of a house&#10;&#10;Description automatically generated with medium confidence">
            <a:extLst>
              <a:ext uri="{FF2B5EF4-FFF2-40B4-BE49-F238E27FC236}">
                <a16:creationId xmlns:a16="http://schemas.microsoft.com/office/drawing/2014/main" id="{D28C602F-A7E4-964B-80C7-65BFEAA14D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7762" y="1705427"/>
            <a:ext cx="3088981" cy="4456600"/>
          </a:xfrm>
          <a:prstGeom prst="rect">
            <a:avLst/>
          </a:prstGeom>
        </p:spPr>
      </p:pic>
      <p:sp>
        <p:nvSpPr>
          <p:cNvPr id="5" name="Google Shape;237;p11">
            <a:extLst>
              <a:ext uri="{FF2B5EF4-FFF2-40B4-BE49-F238E27FC236}">
                <a16:creationId xmlns:a16="http://schemas.microsoft.com/office/drawing/2014/main" id="{C531776F-D773-077B-CF4D-DC2A4182575B}"/>
              </a:ext>
            </a:extLst>
          </p:cNvPr>
          <p:cNvSpPr/>
          <p:nvPr/>
        </p:nvSpPr>
        <p:spPr>
          <a:xfrm>
            <a:off x="1039664" y="647236"/>
            <a:ext cx="6245485" cy="1077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           </a:t>
            </a:r>
            <a:r>
              <a:rPr lang="en-US" sz="3200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Computer Vision Application 			</a:t>
            </a:r>
            <a:r>
              <a:rPr lang="en-US" sz="32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Patent </a:t>
            </a:r>
            <a:endParaRPr sz="3200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" name="Google Shape;242;g103245aa1b6_1_22">
            <a:extLst>
              <a:ext uri="{FF2B5EF4-FFF2-40B4-BE49-F238E27FC236}">
                <a16:creationId xmlns:a16="http://schemas.microsoft.com/office/drawing/2014/main" id="{E08ADB7B-523C-CEDE-E64A-91C8BD142E5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2400" y="152400"/>
            <a:ext cx="1440160" cy="98967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943445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9"/>
          <p:cNvSpPr txBox="1">
            <a:spLocks noGrp="1"/>
          </p:cNvSpPr>
          <p:nvPr>
            <p:ph type="body" idx="4294967295"/>
          </p:nvPr>
        </p:nvSpPr>
        <p:spPr>
          <a:xfrm>
            <a:off x="0" y="20638"/>
            <a:ext cx="8496300" cy="67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 b="1">
              <a:solidFill>
                <a:srgbClr val="990000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 b="1">
              <a:solidFill>
                <a:srgbClr val="990000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 b="1">
              <a:solidFill>
                <a:srgbClr val="990000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 b="1">
              <a:solidFill>
                <a:srgbClr val="990000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 b="1">
              <a:solidFill>
                <a:srgbClr val="990000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 b="1">
              <a:solidFill>
                <a:srgbClr val="990000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 b="1">
              <a:solidFill>
                <a:srgbClr val="990000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 b="1">
              <a:solidFill>
                <a:srgbClr val="990000"/>
              </a:solidFill>
            </a:endParaRPr>
          </a:p>
        </p:txBody>
      </p:sp>
      <p:sp>
        <p:nvSpPr>
          <p:cNvPr id="249" name="Google Shape;249;p9"/>
          <p:cNvSpPr/>
          <p:nvPr/>
        </p:nvSpPr>
        <p:spPr>
          <a:xfrm>
            <a:off x="2987824" y="357188"/>
            <a:ext cx="5798989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endParaRPr sz="3000" b="1" i="1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endParaRPr sz="3000" b="1" i="1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endParaRPr sz="3000" b="1" i="1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9"/>
          <p:cNvSpPr/>
          <p:nvPr/>
        </p:nvSpPr>
        <p:spPr>
          <a:xfrm>
            <a:off x="357186" y="2420888"/>
            <a:ext cx="8496623" cy="2234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81000" marR="0" lvl="0" indent="-2438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2160"/>
              <a:buFont typeface="Noto Sans"/>
              <a:buNone/>
            </a:pPr>
            <a:endParaRPr sz="2400" b="1" i="0" u="none" strike="noStrike" cap="none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81000" marR="0" lvl="0" indent="-24384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00"/>
              </a:buClr>
              <a:buSzPts val="2160"/>
              <a:buFont typeface="Noto Sans"/>
              <a:buNone/>
            </a:pPr>
            <a:endParaRPr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810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sz="24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810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b="1" i="0" u="sng" strike="noStrike" cap="non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9"/>
          <p:cNvSpPr/>
          <p:nvPr/>
        </p:nvSpPr>
        <p:spPr>
          <a:xfrm>
            <a:off x="1826568" y="366609"/>
            <a:ext cx="66963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Calibri"/>
              <a:buNone/>
            </a:pPr>
            <a:r>
              <a:rPr lang="en-US" sz="3200" b="0" i="0" u="none" strike="noStrike" cap="non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           Closing the loop &amp; </a:t>
            </a:r>
            <a:endParaRPr sz="3200" b="0" i="0" u="none" strike="noStrike" cap="none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Calibri"/>
              <a:buNone/>
            </a:pPr>
            <a:r>
              <a:rPr lang="en-US" sz="3200" b="0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Capturing the Entire Value Chain</a:t>
            </a:r>
            <a:endParaRPr sz="3200" b="0" i="0" u="none" strike="noStrike" cap="none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2" name="Google Shape;252;p9" descr="Diagram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64010" y="1484784"/>
            <a:ext cx="5952160" cy="528217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400" y="152400"/>
            <a:ext cx="1440160" cy="989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796901" y="3949478"/>
            <a:ext cx="1440149" cy="2980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4" descr="https://img.fruugo.com/product/3/68/109384683_max.jpg">
            <a:extLst>
              <a:ext uri="{FF2B5EF4-FFF2-40B4-BE49-F238E27FC236}">
                <a16:creationId xmlns:a16="http://schemas.microsoft.com/office/drawing/2014/main" id="{28B80893-167D-EDF1-230E-21BF01A6C1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3554" y="4816931"/>
            <a:ext cx="2424854" cy="2234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Google Shape;120;p1">
            <a:extLst>
              <a:ext uri="{FF2B5EF4-FFF2-40B4-BE49-F238E27FC236}">
                <a16:creationId xmlns:a16="http://schemas.microsoft.com/office/drawing/2014/main" id="{0715D076-23D4-6CD1-4E3F-3E4364CC8711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130712" y="5126890"/>
            <a:ext cx="774242" cy="278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6"/>
          <p:cNvSpPr txBox="1"/>
          <p:nvPr/>
        </p:nvSpPr>
        <p:spPr>
          <a:xfrm>
            <a:off x="1157288" y="3000375"/>
            <a:ext cx="6629400" cy="1000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400"/>
              <a:buFont typeface="Calibri"/>
              <a:buNone/>
            </a:pPr>
            <a:br>
              <a:rPr lang="en-US" sz="2400" b="1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400" b="1" i="0" u="none" strike="noStrike" cap="none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b="1" i="1" u="none" strike="noStrike" cap="none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3200"/>
              <a:buFont typeface="Calibri"/>
              <a:buNone/>
            </a:pPr>
            <a:r>
              <a:rPr lang="en-US" sz="3200" b="1" i="1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Thank You!</a:t>
            </a:r>
            <a:endParaRPr sz="3200" b="1" i="0" u="none" strike="noStrike" cap="none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endParaRPr sz="3200" b="1" i="1" u="none" strike="noStrike" cap="none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endParaRPr sz="3200" b="1" i="1" u="none" strike="noStrike" cap="none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endParaRPr sz="3200" b="1" i="0" u="none" strike="noStrike" cap="none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8" name="Google Shape;278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491800"/>
            <a:ext cx="8839200" cy="2745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7780</TotalTime>
  <Words>689</Words>
  <Application>Microsoft Office PowerPoint</Application>
  <PresentationFormat>On-screen Show (4:3)</PresentationFormat>
  <Paragraphs>169</Paragraphs>
  <Slides>14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Noto Sans</vt:lpstr>
      <vt:lpstr>Wingdings</vt:lpstr>
      <vt:lpstr>Office Theme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</dc:title>
  <dc:creator>Windows User</dc:creator>
  <cp:lastModifiedBy>Roey Tamir</cp:lastModifiedBy>
  <cp:revision>10</cp:revision>
  <dcterms:created xsi:type="dcterms:W3CDTF">2009-05-10T08:50:28Z</dcterms:created>
  <dcterms:modified xsi:type="dcterms:W3CDTF">2023-06-21T14:13:11Z</dcterms:modified>
</cp:coreProperties>
</file>